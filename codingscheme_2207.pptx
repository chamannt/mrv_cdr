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5"/>
  </p:notesMasterIdLst>
  <p:sldIdLst>
    <p:sldId id="256" r:id="rId3"/>
    <p:sldId id="257" r:id="rId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9B9B"/>
    <a:srgbClr val="FFFFFF"/>
    <a:srgbClr val="D9D9D9"/>
    <a:srgbClr val="E69138"/>
    <a:srgbClr val="7DA7B8"/>
    <a:srgbClr val="8DC39F"/>
    <a:srgbClr val="C76A85"/>
    <a:srgbClr val="E5E5E5"/>
    <a:srgbClr val="FF7F00"/>
    <a:srgbClr val="C1A2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354251ba5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354251ba5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 the governance box, we could include "Stakeholder management", this would refer to e.g. grievance mechanism, and/or "Preventing double counting"</a:t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Perhaps we could also add "VVB" as an additional actor and make it responsible for "Project validation" and "Verification"?</a:t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think overlapping would be good because in my mind it doesn't really sit inside since a lot of the governance mechanisms might be implemented outside the certification system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Expanded on Dianne’s figure – how to cite?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Compliance vs voluntary?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Add more under governance?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How important is it to connect project registration of credit registration?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354251ba5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354251ba5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 the governance box, we could include "Stakeholder management", this would refer to e.g. grievance mechanism, and/or "Preventing double counting"</a:t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Perhaps we could also add "VVB" as an additional actor and make it responsible for "Project validation" and "Verification"?</a:t>
            </a:r>
            <a:endParaRPr sz="1050">
              <a:solidFill>
                <a:srgbClr val="44474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think overlapping would be good because in my mind it doesn't really sit inside since a lot of the governance mechanisms might be implemented outside the certification system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Expanded on Dianne’s figure – how to cite?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Compliance vs voluntary?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Add more under governance?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How important is it to connect project registration of credit registration?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242158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46725" tIns="46725" rIns="46725" bIns="467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46725" tIns="46725" rIns="46725" bIns="467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46725" tIns="46725" rIns="46725" bIns="467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46725" tIns="46725" rIns="46725" bIns="467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46725" tIns="46725" rIns="46725" bIns="467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46725" tIns="46725" rIns="46725" bIns="467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46725" tIns="46725" rIns="46725" bIns="46725" anchor="t" anchorCtr="0">
            <a:norm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46725" tIns="46725" rIns="46725" bIns="467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46725" tIns="46725" rIns="46725" bIns="467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46725" tIns="46725" rIns="46725" bIns="46725" anchor="t" anchorCtr="0">
            <a:norm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46725" tIns="46725" rIns="46725" bIns="46725" anchor="t" anchorCtr="0">
            <a:norm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46725" tIns="46725" rIns="46725" bIns="467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46725" tIns="46725" rIns="46725" bIns="467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46725" tIns="46725" rIns="46725" bIns="467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46725" tIns="46725" rIns="46725" bIns="467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46725" tIns="46725" rIns="46725" bIns="46725" anchor="t" anchorCtr="0">
            <a:norm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46725" tIns="46725" rIns="46725" bIns="467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46725" tIns="46725" rIns="46725" bIns="467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46725" tIns="46725" rIns="46725" bIns="467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6725" tIns="46725" rIns="46725" bIns="46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46725" tIns="46725" rIns="46725" bIns="467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46725" tIns="46725" rIns="46725" bIns="467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46725" tIns="46725" rIns="46725" bIns="46725" anchor="ctr" anchorCtr="0">
            <a:norm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46725" tIns="46725" rIns="46725" bIns="467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46725" tIns="46725" rIns="46725" bIns="467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46725" tIns="46725" rIns="46725" bIns="467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46725" tIns="46725" rIns="46725" bIns="467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1pPr>
            <a:lvl2pPr lvl="1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46725" tIns="46725" rIns="46725" bIns="46725" anchor="t" anchorCtr="0">
            <a:normAutofit/>
          </a:bodyPr>
          <a:lstStyle>
            <a:lvl1pPr marL="457200" lvl="0" indent="-28575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7305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2pPr>
            <a:lvl3pPr marL="1371600" lvl="2" indent="-27305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3pPr>
            <a:lvl4pPr marL="1828800" lvl="3" indent="-27305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4pPr>
            <a:lvl5pPr marL="2286000" lvl="4" indent="-27305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5pPr>
            <a:lvl6pPr marL="2743200" lvl="5" indent="-27305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6pPr>
            <a:lvl7pPr marL="3200400" lvl="6" indent="-27305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7pPr>
            <a:lvl8pPr marL="3657600" lvl="7" indent="-27305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7305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46725" tIns="46725" rIns="46725" bIns="467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46725" tIns="46725" rIns="46725" bIns="467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725" tIns="46725" rIns="46725" bIns="467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725" tIns="46725" rIns="46725" bIns="46725" anchor="t" anchorCtr="0">
            <a:norm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  <a:defRPr sz="900">
                <a:solidFill>
                  <a:schemeClr val="dk2"/>
                </a:solidFill>
              </a:defRPr>
            </a:lvl1pPr>
            <a:lvl2pPr marL="914400" lvl="1" indent="-273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Char char="○"/>
              <a:defRPr sz="700">
                <a:solidFill>
                  <a:schemeClr val="dk2"/>
                </a:solidFill>
              </a:defRPr>
            </a:lvl2pPr>
            <a:lvl3pPr marL="1371600" lvl="2" indent="-273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Char char="■"/>
              <a:defRPr sz="700">
                <a:solidFill>
                  <a:schemeClr val="dk2"/>
                </a:solidFill>
              </a:defRPr>
            </a:lvl3pPr>
            <a:lvl4pPr marL="1828800" lvl="3" indent="-273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Char char="●"/>
              <a:defRPr sz="700">
                <a:solidFill>
                  <a:schemeClr val="dk2"/>
                </a:solidFill>
              </a:defRPr>
            </a:lvl4pPr>
            <a:lvl5pPr marL="2286000" lvl="4" indent="-273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Char char="○"/>
              <a:defRPr sz="700">
                <a:solidFill>
                  <a:schemeClr val="dk2"/>
                </a:solidFill>
              </a:defRPr>
            </a:lvl5pPr>
            <a:lvl6pPr marL="2743200" lvl="5" indent="-273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Char char="■"/>
              <a:defRPr sz="700">
                <a:solidFill>
                  <a:schemeClr val="dk2"/>
                </a:solidFill>
              </a:defRPr>
            </a:lvl6pPr>
            <a:lvl7pPr marL="3200400" lvl="6" indent="-273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Char char="●"/>
              <a:defRPr sz="700">
                <a:solidFill>
                  <a:schemeClr val="dk2"/>
                </a:solidFill>
              </a:defRPr>
            </a:lvl7pPr>
            <a:lvl8pPr marL="3657600" lvl="7" indent="-273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Char char="○"/>
              <a:defRPr sz="700">
                <a:solidFill>
                  <a:schemeClr val="dk2"/>
                </a:solidFill>
              </a:defRPr>
            </a:lvl8pPr>
            <a:lvl9pPr marL="4114800" lvl="8" indent="-273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Char char="■"/>
              <a:defRPr sz="7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725" tIns="46725" rIns="46725" bIns="46725" anchor="ctr" anchorCtr="0">
            <a:normAutofit/>
          </a:bodyPr>
          <a:lstStyle>
            <a:lvl1pPr lvl="0" algn="r">
              <a:buNone/>
              <a:defRPr sz="500">
                <a:solidFill>
                  <a:schemeClr val="dk2"/>
                </a:solidFill>
              </a:defRPr>
            </a:lvl1pPr>
            <a:lvl2pPr lvl="1" algn="r">
              <a:buNone/>
              <a:defRPr sz="500">
                <a:solidFill>
                  <a:schemeClr val="dk2"/>
                </a:solidFill>
              </a:defRPr>
            </a:lvl2pPr>
            <a:lvl3pPr lvl="2" algn="r">
              <a:buNone/>
              <a:defRPr sz="500">
                <a:solidFill>
                  <a:schemeClr val="dk2"/>
                </a:solidFill>
              </a:defRPr>
            </a:lvl3pPr>
            <a:lvl4pPr lvl="3" algn="r">
              <a:buNone/>
              <a:defRPr sz="500">
                <a:solidFill>
                  <a:schemeClr val="dk2"/>
                </a:solidFill>
              </a:defRPr>
            </a:lvl4pPr>
            <a:lvl5pPr lvl="4" algn="r">
              <a:buNone/>
              <a:defRPr sz="500">
                <a:solidFill>
                  <a:schemeClr val="dk2"/>
                </a:solidFill>
              </a:defRPr>
            </a:lvl5pPr>
            <a:lvl6pPr lvl="5" algn="r">
              <a:buNone/>
              <a:defRPr sz="500">
                <a:solidFill>
                  <a:schemeClr val="dk2"/>
                </a:solidFill>
              </a:defRPr>
            </a:lvl6pPr>
            <a:lvl7pPr lvl="6" algn="r">
              <a:buNone/>
              <a:defRPr sz="500">
                <a:solidFill>
                  <a:schemeClr val="dk2"/>
                </a:solidFill>
              </a:defRPr>
            </a:lvl7pPr>
            <a:lvl8pPr lvl="7" algn="r">
              <a:buNone/>
              <a:defRPr sz="500">
                <a:solidFill>
                  <a:schemeClr val="dk2"/>
                </a:solidFill>
              </a:defRPr>
            </a:lvl8pPr>
            <a:lvl9pPr lvl="8" algn="r">
              <a:buNone/>
              <a:defRPr sz="5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F67370AD-32BD-44C0-8FF9-383CB6E03EF3}"/>
              </a:ext>
            </a:extLst>
          </p:cNvPr>
          <p:cNvGrpSpPr/>
          <p:nvPr/>
        </p:nvGrpSpPr>
        <p:grpSpPr>
          <a:xfrm>
            <a:off x="1926633" y="533957"/>
            <a:ext cx="5700294" cy="4075586"/>
            <a:chOff x="326433" y="614178"/>
            <a:chExt cx="5700294" cy="4075586"/>
          </a:xfrm>
        </p:grpSpPr>
        <p:sp>
          <p:nvSpPr>
            <p:cNvPr id="108" name="Google Shape;108;p25"/>
            <p:cNvSpPr txBox="1"/>
            <p:nvPr/>
          </p:nvSpPr>
          <p:spPr>
            <a:xfrm>
              <a:off x="326433" y="614178"/>
              <a:ext cx="5700294" cy="4075586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150" tIns="13150" rIns="13150" bIns="1315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2"/>
                </a:solidFill>
              </a:endParaRPr>
            </a:p>
          </p:txBody>
        </p:sp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DC9F0E34-C617-48A5-B48E-CACFFCFA438A}"/>
                </a:ext>
              </a:extLst>
            </p:cNvPr>
            <p:cNvGrpSpPr/>
            <p:nvPr/>
          </p:nvGrpSpPr>
          <p:grpSpPr>
            <a:xfrm>
              <a:off x="5093291" y="3762421"/>
              <a:ext cx="835200" cy="853200"/>
              <a:chOff x="6553858" y="51361"/>
              <a:chExt cx="835200" cy="853200"/>
            </a:xfrm>
          </p:grpSpPr>
          <p:sp>
            <p:nvSpPr>
              <p:cNvPr id="109" name="Google Shape;109;p25"/>
              <p:cNvSpPr txBox="1"/>
              <p:nvPr/>
            </p:nvSpPr>
            <p:spPr>
              <a:xfrm>
                <a:off x="6553858" y="51361"/>
                <a:ext cx="835200" cy="853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0400" tIns="10400" rIns="10400" bIns="104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chemeClr val="dk2"/>
                  </a:solidFill>
                </a:endParaRPr>
              </a:p>
            </p:txBody>
          </p:sp>
          <p:sp>
            <p:nvSpPr>
              <p:cNvPr id="110" name="Google Shape;110;p25"/>
              <p:cNvSpPr txBox="1"/>
              <p:nvPr/>
            </p:nvSpPr>
            <p:spPr>
              <a:xfrm>
                <a:off x="6609879" y="55068"/>
                <a:ext cx="773950" cy="1800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spcFirstLastPara="1" wrap="square" lIns="10400" tIns="10400" rIns="10400" bIns="104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b="1" dirty="0">
                    <a:solidFill>
                      <a:schemeClr val="dk1"/>
                    </a:solidFill>
                  </a:rPr>
                  <a:t>Legend</a:t>
                </a:r>
                <a:endParaRPr sz="900" b="1" dirty="0">
                  <a:solidFill>
                    <a:schemeClr val="dk1"/>
                  </a:solidFill>
                </a:endParaRPr>
              </a:p>
            </p:txBody>
          </p:sp>
          <p:sp>
            <p:nvSpPr>
              <p:cNvPr id="111" name="Google Shape;111;p25"/>
              <p:cNvSpPr txBox="1"/>
              <p:nvPr/>
            </p:nvSpPr>
            <p:spPr>
              <a:xfrm>
                <a:off x="6609879" y="206159"/>
                <a:ext cx="720000" cy="180000"/>
              </a:xfrm>
              <a:prstGeom prst="rect">
                <a:avLst/>
              </a:prstGeom>
              <a:noFill/>
              <a:ln w="9525" cap="flat" cmpd="sng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0400" tIns="10400" rIns="10400" bIns="104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Free text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  <p:sp>
            <p:nvSpPr>
              <p:cNvPr id="112" name="Google Shape;112;p25"/>
              <p:cNvSpPr txBox="1"/>
              <p:nvPr/>
            </p:nvSpPr>
            <p:spPr>
              <a:xfrm>
                <a:off x="6610571" y="418880"/>
                <a:ext cx="720000" cy="180000"/>
              </a:xfrm>
              <a:prstGeom prst="rect">
                <a:avLst/>
              </a:prstGeom>
              <a:noFill/>
              <a:ln w="9525" cap="flat" cmpd="sng">
                <a:solidFill>
                  <a:schemeClr val="bg1">
                    <a:lumMod val="65000"/>
                  </a:schemeClr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10400" tIns="10400" rIns="10400" bIns="104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Focus: 0/1/2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  <p:sp>
            <p:nvSpPr>
              <p:cNvPr id="113" name="Google Shape;113;p25"/>
              <p:cNvSpPr txBox="1"/>
              <p:nvPr/>
            </p:nvSpPr>
            <p:spPr>
              <a:xfrm>
                <a:off x="6610570" y="631599"/>
                <a:ext cx="720000" cy="180000"/>
              </a:xfrm>
              <a:prstGeom prst="rect">
                <a:avLst/>
              </a:prstGeom>
              <a:noFill/>
              <a:ln w="9525" cap="flat" cmpd="sng">
                <a:solidFill>
                  <a:schemeClr val="bg1">
                    <a:lumMod val="65000"/>
                  </a:schemeClr>
                </a:solidFill>
                <a:prstDash val="sys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10400" tIns="10400" rIns="10400" bIns="104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Categories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8FB6F46F-AAE8-44B4-8BBD-F5FD64AD57BB}"/>
                </a:ext>
              </a:extLst>
            </p:cNvPr>
            <p:cNvGrpSpPr/>
            <p:nvPr/>
          </p:nvGrpSpPr>
          <p:grpSpPr>
            <a:xfrm>
              <a:off x="3221291" y="1340221"/>
              <a:ext cx="835200" cy="791400"/>
              <a:chOff x="3221291" y="1340221"/>
              <a:chExt cx="835200" cy="791400"/>
            </a:xfrm>
          </p:grpSpPr>
          <p:sp>
            <p:nvSpPr>
              <p:cNvPr id="121" name="Google Shape;121;p25"/>
              <p:cNvSpPr txBox="1"/>
              <p:nvPr/>
            </p:nvSpPr>
            <p:spPr>
              <a:xfrm>
                <a:off x="3221291" y="1340221"/>
                <a:ext cx="835200" cy="3774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rgbClr val="7DA7B8"/>
                </a:solidFill>
                <a:prstDash val="sys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Carbon pool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  <p:sp>
            <p:nvSpPr>
              <p:cNvPr id="127" name="Google Shape;127;p25"/>
              <p:cNvSpPr txBox="1"/>
              <p:nvPr/>
            </p:nvSpPr>
            <p:spPr>
              <a:xfrm>
                <a:off x="3221291" y="1754221"/>
                <a:ext cx="835200" cy="3774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rgbClr val="7DA7B8"/>
                </a:solidFill>
                <a:prstDash val="sys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Measurement tool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E18E41B0-814C-4F21-8CF0-C4BEC92FEDF4}"/>
                </a:ext>
              </a:extLst>
            </p:cNvPr>
            <p:cNvGrpSpPr/>
            <p:nvPr/>
          </p:nvGrpSpPr>
          <p:grpSpPr>
            <a:xfrm>
              <a:off x="4157291" y="1340221"/>
              <a:ext cx="835200" cy="791400"/>
              <a:chOff x="4157291" y="1340221"/>
              <a:chExt cx="835200" cy="791400"/>
            </a:xfrm>
          </p:grpSpPr>
          <p:sp>
            <p:nvSpPr>
              <p:cNvPr id="122" name="Google Shape;122;p25"/>
              <p:cNvSpPr txBox="1"/>
              <p:nvPr/>
            </p:nvSpPr>
            <p:spPr>
              <a:xfrm>
                <a:off x="4157291" y="1340221"/>
                <a:ext cx="835200" cy="3774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rgbClr val="8DC39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Duration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  <p:sp>
            <p:nvSpPr>
              <p:cNvPr id="128" name="Google Shape;128;p25"/>
              <p:cNvSpPr txBox="1"/>
              <p:nvPr/>
            </p:nvSpPr>
            <p:spPr>
              <a:xfrm>
                <a:off x="4157291" y="1754221"/>
                <a:ext cx="835200" cy="3774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rgbClr val="8DC39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Frequency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D2982FC5-16D5-458C-8A2F-857E9463CF48}"/>
                </a:ext>
              </a:extLst>
            </p:cNvPr>
            <p:cNvGrpSpPr/>
            <p:nvPr/>
          </p:nvGrpSpPr>
          <p:grpSpPr>
            <a:xfrm>
              <a:off x="1349291" y="1340221"/>
              <a:ext cx="835200" cy="1619400"/>
              <a:chOff x="1349291" y="1340221"/>
              <a:chExt cx="835200" cy="1619400"/>
            </a:xfrm>
          </p:grpSpPr>
          <p:sp>
            <p:nvSpPr>
              <p:cNvPr id="118" name="Google Shape;118;p25"/>
              <p:cNvSpPr txBox="1"/>
              <p:nvPr/>
            </p:nvSpPr>
            <p:spPr>
              <a:xfrm>
                <a:off x="1349291" y="1340221"/>
                <a:ext cx="835200" cy="3774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rgbClr val="8FBC8F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Biogenic CDR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  <p:sp>
            <p:nvSpPr>
              <p:cNvPr id="124" name="Google Shape;124;p25"/>
              <p:cNvSpPr txBox="1"/>
              <p:nvPr/>
            </p:nvSpPr>
            <p:spPr>
              <a:xfrm>
                <a:off x="1349291" y="1754221"/>
                <a:ext cx="835200" cy="3774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rgbClr val="C1A28A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Geochemical CDR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  <p:sp>
            <p:nvSpPr>
              <p:cNvPr id="130" name="Google Shape;130;p25"/>
              <p:cNvSpPr txBox="1"/>
              <p:nvPr/>
            </p:nvSpPr>
            <p:spPr>
              <a:xfrm>
                <a:off x="1349291" y="2168221"/>
                <a:ext cx="835200" cy="3774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rgbClr val="FF7F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Synthetic CDR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  <p:sp>
            <p:nvSpPr>
              <p:cNvPr id="134" name="Google Shape;134;p25"/>
              <p:cNvSpPr txBox="1"/>
              <p:nvPr/>
            </p:nvSpPr>
            <p:spPr>
              <a:xfrm>
                <a:off x="1349291" y="2582221"/>
                <a:ext cx="835200" cy="3774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chemeClr val="accent3">
                    <a:lumMod val="60000"/>
                    <a:lumOff val="40000"/>
                  </a:schemeClr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General CDR/Other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3C3DDD48-5B42-404B-B180-E5C979F2EAD2}"/>
                </a:ext>
              </a:extLst>
            </p:cNvPr>
            <p:cNvGrpSpPr/>
            <p:nvPr/>
          </p:nvGrpSpPr>
          <p:grpSpPr>
            <a:xfrm>
              <a:off x="413307" y="1340221"/>
              <a:ext cx="835200" cy="1619400"/>
              <a:chOff x="413307" y="1340221"/>
              <a:chExt cx="835200" cy="1619400"/>
            </a:xfrm>
          </p:grpSpPr>
          <p:sp>
            <p:nvSpPr>
              <p:cNvPr id="120" name="Google Shape;120;p25"/>
              <p:cNvSpPr txBox="1"/>
              <p:nvPr/>
            </p:nvSpPr>
            <p:spPr>
              <a:xfrm>
                <a:off x="413307" y="1340221"/>
                <a:ext cx="835200" cy="3774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chemeClr val="bg2">
                    <a:lumMod val="60000"/>
                    <a:lumOff val="4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Study ID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  <p:sp>
            <p:nvSpPr>
              <p:cNvPr id="126" name="Google Shape;126;p25"/>
              <p:cNvSpPr txBox="1"/>
              <p:nvPr/>
            </p:nvSpPr>
            <p:spPr>
              <a:xfrm>
                <a:off x="413307" y="1754221"/>
                <a:ext cx="835200" cy="3774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chemeClr val="bg2">
                    <a:lumMod val="60000"/>
                    <a:lumOff val="40000"/>
                  </a:schemeClr>
                </a:solidFill>
                <a:prstDash val="sys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Publication year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  <p:sp>
            <p:nvSpPr>
              <p:cNvPr id="132" name="Google Shape;132;p25"/>
              <p:cNvSpPr txBox="1"/>
              <p:nvPr/>
            </p:nvSpPr>
            <p:spPr>
              <a:xfrm>
                <a:off x="413307" y="2168221"/>
                <a:ext cx="835200" cy="3774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chemeClr val="bg2">
                    <a:lumMod val="60000"/>
                    <a:lumOff val="4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Study location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  <p:sp>
            <p:nvSpPr>
              <p:cNvPr id="136" name="Google Shape;136;p25"/>
              <p:cNvSpPr txBox="1"/>
              <p:nvPr/>
            </p:nvSpPr>
            <p:spPr>
              <a:xfrm>
                <a:off x="413307" y="2582221"/>
                <a:ext cx="835200" cy="3774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chemeClr val="bg2">
                    <a:lumMod val="60000"/>
                    <a:lumOff val="4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Research method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479FF9B1-B082-4FDC-AC9A-235E2D7B0652}"/>
                </a:ext>
              </a:extLst>
            </p:cNvPr>
            <p:cNvGrpSpPr/>
            <p:nvPr/>
          </p:nvGrpSpPr>
          <p:grpSpPr>
            <a:xfrm>
              <a:off x="5093291" y="1340221"/>
              <a:ext cx="835200" cy="1619400"/>
              <a:chOff x="5093291" y="1340221"/>
              <a:chExt cx="835200" cy="1619400"/>
            </a:xfrm>
          </p:grpSpPr>
          <p:sp>
            <p:nvSpPr>
              <p:cNvPr id="123" name="Google Shape;123;p25"/>
              <p:cNvSpPr txBox="1"/>
              <p:nvPr/>
            </p:nvSpPr>
            <p:spPr>
              <a:xfrm>
                <a:off x="5093291" y="1340221"/>
                <a:ext cx="835200" cy="3774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rgbClr val="C76A85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Durability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  <p:sp>
            <p:nvSpPr>
              <p:cNvPr id="129" name="Google Shape;129;p25"/>
              <p:cNvSpPr txBox="1"/>
              <p:nvPr/>
            </p:nvSpPr>
            <p:spPr>
              <a:xfrm>
                <a:off x="5093291" y="1754221"/>
                <a:ext cx="835200" cy="3774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rgbClr val="C76A85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Leakage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  <p:sp>
            <p:nvSpPr>
              <p:cNvPr id="133" name="Google Shape;133;p25"/>
              <p:cNvSpPr txBox="1"/>
              <p:nvPr/>
            </p:nvSpPr>
            <p:spPr>
              <a:xfrm>
                <a:off x="5093291" y="2168221"/>
                <a:ext cx="835200" cy="3774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rgbClr val="C76A85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Additionality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  <p:sp>
            <p:nvSpPr>
              <p:cNvPr id="137" name="Google Shape;137;p25"/>
              <p:cNvSpPr txBox="1"/>
              <p:nvPr/>
            </p:nvSpPr>
            <p:spPr>
              <a:xfrm>
                <a:off x="5093291" y="2582221"/>
                <a:ext cx="835200" cy="3774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rgbClr val="C76A85"/>
                </a:solidFill>
                <a:prstDash val="sys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Uncertainty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1B12C890-6EA1-44A3-A3CD-AA36F6819114}"/>
                </a:ext>
              </a:extLst>
            </p:cNvPr>
            <p:cNvGrpSpPr/>
            <p:nvPr/>
          </p:nvGrpSpPr>
          <p:grpSpPr>
            <a:xfrm>
              <a:off x="2283447" y="1340221"/>
              <a:ext cx="837044" cy="3275400"/>
              <a:chOff x="2283447" y="1340221"/>
              <a:chExt cx="837044" cy="3275400"/>
            </a:xfrm>
          </p:grpSpPr>
          <p:sp>
            <p:nvSpPr>
              <p:cNvPr id="119" name="Google Shape;119;p25"/>
              <p:cNvSpPr txBox="1"/>
              <p:nvPr/>
            </p:nvSpPr>
            <p:spPr>
              <a:xfrm>
                <a:off x="2283447" y="1340221"/>
                <a:ext cx="835200" cy="3774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rgbClr val="38761D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General MRV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  <p:sp>
            <p:nvSpPr>
              <p:cNvPr id="125" name="Google Shape;125;p25"/>
              <p:cNvSpPr txBox="1"/>
              <p:nvPr/>
            </p:nvSpPr>
            <p:spPr>
              <a:xfrm>
                <a:off x="2285225" y="1754221"/>
                <a:ext cx="835200" cy="3600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rgbClr val="7DA7B8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Quantification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  <p:sp>
            <p:nvSpPr>
              <p:cNvPr id="131" name="Google Shape;131;p25"/>
              <p:cNvSpPr txBox="1"/>
              <p:nvPr/>
            </p:nvSpPr>
            <p:spPr>
              <a:xfrm>
                <a:off x="2285291" y="2168221"/>
                <a:ext cx="835200" cy="3774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rgbClr val="8DC39F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Monitoring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  <p:sp>
            <p:nvSpPr>
              <p:cNvPr id="135" name="Google Shape;135;p25"/>
              <p:cNvSpPr txBox="1"/>
              <p:nvPr/>
            </p:nvSpPr>
            <p:spPr>
              <a:xfrm>
                <a:off x="2285225" y="2582221"/>
                <a:ext cx="835200" cy="3774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rgbClr val="C76A85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Quality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  <p:sp>
            <p:nvSpPr>
              <p:cNvPr id="138" name="Google Shape;138;p25"/>
              <p:cNvSpPr txBox="1"/>
              <p:nvPr/>
            </p:nvSpPr>
            <p:spPr>
              <a:xfrm>
                <a:off x="2285225" y="2996221"/>
                <a:ext cx="835200" cy="3774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rgbClr val="B39BC8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Governance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  <p:sp>
            <p:nvSpPr>
              <p:cNvPr id="139" name="Google Shape;139;p25"/>
              <p:cNvSpPr txBox="1"/>
              <p:nvPr/>
            </p:nvSpPr>
            <p:spPr>
              <a:xfrm>
                <a:off x="2285225" y="3410221"/>
                <a:ext cx="835200" cy="3774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rgbClr val="E1A6B8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>
                    <a:solidFill>
                      <a:schemeClr val="dk2"/>
                    </a:solidFill>
                  </a:rPr>
                  <a:t>Reporting</a:t>
                </a:r>
                <a:endParaRPr sz="800">
                  <a:solidFill>
                    <a:schemeClr val="dk2"/>
                  </a:solidFill>
                </a:endParaRPr>
              </a:p>
            </p:txBody>
          </p:sp>
          <p:sp>
            <p:nvSpPr>
              <p:cNvPr id="140" name="Google Shape;140;p25"/>
              <p:cNvSpPr txBox="1"/>
              <p:nvPr/>
            </p:nvSpPr>
            <p:spPr>
              <a:xfrm>
                <a:off x="2285225" y="3824221"/>
                <a:ext cx="835200" cy="3774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rgbClr val="A8A8A8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Verification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  <p:sp>
            <p:nvSpPr>
              <p:cNvPr id="141" name="Google Shape;141;p25"/>
              <p:cNvSpPr txBox="1"/>
              <p:nvPr/>
            </p:nvSpPr>
            <p:spPr>
              <a:xfrm>
                <a:off x="2285225" y="4238221"/>
                <a:ext cx="835200" cy="3774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rgbClr val="D0C97B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dirty="0">
                    <a:solidFill>
                      <a:schemeClr val="dk2"/>
                    </a:solidFill>
                  </a:rPr>
                  <a:t>External impacts</a:t>
                </a:r>
                <a:endParaRPr sz="800" dirty="0"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462D909F-8293-43CA-AECB-1E1C72217105}"/>
                </a:ext>
              </a:extLst>
            </p:cNvPr>
            <p:cNvGrpSpPr/>
            <p:nvPr/>
          </p:nvGrpSpPr>
          <p:grpSpPr>
            <a:xfrm>
              <a:off x="413307" y="860326"/>
              <a:ext cx="5515184" cy="377999"/>
              <a:chOff x="413307" y="860326"/>
              <a:chExt cx="5515184" cy="377999"/>
            </a:xfrm>
          </p:grpSpPr>
          <p:sp>
            <p:nvSpPr>
              <p:cNvPr id="114" name="Google Shape;114;p25"/>
              <p:cNvSpPr txBox="1"/>
              <p:nvPr/>
            </p:nvSpPr>
            <p:spPr>
              <a:xfrm>
                <a:off x="413307" y="860629"/>
                <a:ext cx="835200" cy="377400"/>
              </a:xfrm>
              <a:prstGeom prst="rect">
                <a:avLst/>
              </a:prstGeom>
              <a:solidFill>
                <a:srgbClr val="9B9B9B">
                  <a:alpha val="50196"/>
                </a:srgbClr>
              </a:solidFill>
              <a:ln w="9525" cap="flat" cmpd="sng">
                <a:solidFill>
                  <a:schemeClr val="bg2">
                    <a:lumMod val="60000"/>
                    <a:lumOff val="4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b="1" dirty="0">
                    <a:solidFill>
                      <a:schemeClr val="dk1"/>
                    </a:solidFill>
                  </a:rPr>
                  <a:t>Meta- and study data</a:t>
                </a:r>
                <a:endParaRPr sz="800" b="1" dirty="0">
                  <a:solidFill>
                    <a:schemeClr val="dk1"/>
                  </a:solidFill>
                </a:endParaRPr>
              </a:p>
            </p:txBody>
          </p:sp>
          <p:sp>
            <p:nvSpPr>
              <p:cNvPr id="115" name="Google Shape;115;p25"/>
              <p:cNvSpPr txBox="1"/>
              <p:nvPr/>
            </p:nvSpPr>
            <p:spPr>
              <a:xfrm>
                <a:off x="3221291" y="860626"/>
                <a:ext cx="835200" cy="377400"/>
              </a:xfrm>
              <a:prstGeom prst="rect">
                <a:avLst/>
              </a:prstGeom>
              <a:solidFill>
                <a:srgbClr val="7DA7B8">
                  <a:alpha val="50196"/>
                </a:srgbClr>
              </a:solidFill>
              <a:ln w="9525" cap="flat" cmpd="sng">
                <a:solidFill>
                  <a:srgbClr val="7DA7B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b="1" dirty="0">
                    <a:solidFill>
                      <a:schemeClr val="dk1"/>
                    </a:solidFill>
                  </a:rPr>
                  <a:t>Quantification</a:t>
                </a:r>
                <a:endParaRPr sz="800" b="1" dirty="0">
                  <a:solidFill>
                    <a:schemeClr val="dk1"/>
                  </a:solidFill>
                </a:endParaRPr>
              </a:p>
            </p:txBody>
          </p:sp>
          <p:sp>
            <p:nvSpPr>
              <p:cNvPr id="116" name="Google Shape;116;p25"/>
              <p:cNvSpPr txBox="1"/>
              <p:nvPr/>
            </p:nvSpPr>
            <p:spPr>
              <a:xfrm>
                <a:off x="4157291" y="860630"/>
                <a:ext cx="835200" cy="377400"/>
              </a:xfrm>
              <a:prstGeom prst="rect">
                <a:avLst/>
              </a:prstGeom>
              <a:solidFill>
                <a:srgbClr val="8DC39F">
                  <a:alpha val="50196"/>
                </a:srgbClr>
              </a:solidFill>
              <a:ln w="9525" cap="flat" cmpd="sng">
                <a:solidFill>
                  <a:srgbClr val="8DC39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b="1" dirty="0">
                    <a:solidFill>
                      <a:schemeClr val="dk1"/>
                    </a:solidFill>
                  </a:rPr>
                  <a:t>Monitoring</a:t>
                </a:r>
                <a:endParaRPr sz="800" b="1" dirty="0">
                  <a:solidFill>
                    <a:schemeClr val="dk1"/>
                  </a:solidFill>
                </a:endParaRPr>
              </a:p>
            </p:txBody>
          </p:sp>
          <p:sp>
            <p:nvSpPr>
              <p:cNvPr id="117" name="Google Shape;117;p25"/>
              <p:cNvSpPr txBox="1"/>
              <p:nvPr/>
            </p:nvSpPr>
            <p:spPr>
              <a:xfrm>
                <a:off x="5093291" y="860925"/>
                <a:ext cx="835200" cy="377400"/>
              </a:xfrm>
              <a:prstGeom prst="rect">
                <a:avLst/>
              </a:prstGeom>
              <a:solidFill>
                <a:srgbClr val="C76A85">
                  <a:alpha val="50196"/>
                </a:srgbClr>
              </a:solidFill>
              <a:ln w="9525" cap="flat" cmpd="sng">
                <a:solidFill>
                  <a:srgbClr val="C76A8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b="1" dirty="0">
                    <a:solidFill>
                      <a:schemeClr val="dk1"/>
                    </a:solidFill>
                  </a:rPr>
                  <a:t>Quality</a:t>
                </a:r>
                <a:endParaRPr sz="800" b="1" dirty="0">
                  <a:solidFill>
                    <a:schemeClr val="dk1"/>
                  </a:solidFill>
                </a:endParaRPr>
              </a:p>
            </p:txBody>
          </p:sp>
          <p:sp>
            <p:nvSpPr>
              <p:cNvPr id="142" name="Google Shape;142;p25"/>
              <p:cNvSpPr txBox="1"/>
              <p:nvPr/>
            </p:nvSpPr>
            <p:spPr>
              <a:xfrm>
                <a:off x="1349291" y="860326"/>
                <a:ext cx="835200" cy="377400"/>
              </a:xfrm>
              <a:prstGeom prst="rect">
                <a:avLst/>
              </a:prstGeom>
              <a:solidFill>
                <a:schemeClr val="accent2">
                  <a:lumMod val="25000"/>
                  <a:lumOff val="75000"/>
                </a:schemeClr>
              </a:solidFill>
              <a:ln w="9525" cap="flat" cmpd="sng">
                <a:solidFill>
                  <a:schemeClr val="accent3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b="1" dirty="0">
                    <a:solidFill>
                      <a:schemeClr val="dk1"/>
                    </a:solidFill>
                  </a:rPr>
                  <a:t>CDR method</a:t>
                </a:r>
                <a:endParaRPr sz="800" b="1" dirty="0">
                  <a:solidFill>
                    <a:schemeClr val="dk1"/>
                  </a:solidFill>
                </a:endParaRPr>
              </a:p>
            </p:txBody>
          </p:sp>
          <p:sp>
            <p:nvSpPr>
              <p:cNvPr id="143" name="Google Shape;143;p25"/>
              <p:cNvSpPr txBox="1"/>
              <p:nvPr/>
            </p:nvSpPr>
            <p:spPr>
              <a:xfrm>
                <a:off x="2285291" y="860326"/>
                <a:ext cx="835200" cy="377400"/>
              </a:xfrm>
              <a:prstGeom prst="rect">
                <a:avLst/>
              </a:prstGeom>
              <a:solidFill>
                <a:srgbClr val="E69138">
                  <a:alpha val="50196"/>
                </a:srgbClr>
              </a:solidFill>
              <a:ln w="9525" cap="flat" cmpd="sng">
                <a:solidFill>
                  <a:srgbClr val="E691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800" b="1" dirty="0">
                    <a:solidFill>
                      <a:schemeClr val="dk1"/>
                    </a:solidFill>
                  </a:rPr>
                  <a:t>MRV topic</a:t>
                </a:r>
                <a:endParaRPr sz="800" b="1" dirty="0"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103" name="Google Shape;103;p25"/>
            <p:cNvSpPr txBox="1"/>
            <p:nvPr/>
          </p:nvSpPr>
          <p:spPr>
            <a:xfrm>
              <a:off x="326433" y="629322"/>
              <a:ext cx="5700294" cy="2310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150" tIns="13150" rIns="13150" bIns="13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1000" b="1" dirty="0">
                  <a:solidFill>
                    <a:schemeClr val="dk1"/>
                  </a:solidFill>
                </a:rPr>
                <a:t>Coding scheme</a:t>
              </a:r>
              <a:endParaRPr sz="1000" b="1" dirty="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D1C9989-804C-436C-A08A-2C739328568D}"/>
              </a:ext>
            </a:extLst>
          </p:cNvPr>
          <p:cNvGrpSpPr/>
          <p:nvPr/>
        </p:nvGrpSpPr>
        <p:grpSpPr>
          <a:xfrm>
            <a:off x="0" y="0"/>
            <a:ext cx="9144000" cy="5128355"/>
            <a:chOff x="-162560" y="533956"/>
            <a:chExt cx="9144000" cy="5128355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F67370AD-32BD-44C0-8FF9-383CB6E03EF3}"/>
                </a:ext>
              </a:extLst>
            </p:cNvPr>
            <p:cNvGrpSpPr/>
            <p:nvPr/>
          </p:nvGrpSpPr>
          <p:grpSpPr>
            <a:xfrm>
              <a:off x="-162560" y="533956"/>
              <a:ext cx="9144000" cy="5128355"/>
              <a:chOff x="-1762760" y="614177"/>
              <a:chExt cx="9144000" cy="5128355"/>
            </a:xfrm>
          </p:grpSpPr>
          <p:sp>
            <p:nvSpPr>
              <p:cNvPr id="108" name="Google Shape;108;p25"/>
              <p:cNvSpPr txBox="1"/>
              <p:nvPr/>
            </p:nvSpPr>
            <p:spPr>
              <a:xfrm>
                <a:off x="-1762760" y="614177"/>
                <a:ext cx="9144000" cy="5128355"/>
              </a:xfrm>
              <a:prstGeom prst="rect">
                <a:avLst/>
              </a:prstGeom>
              <a:solidFill>
                <a:srgbClr val="D9D9D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3150" tIns="13150" rIns="13150" bIns="1315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chemeClr val="dk2"/>
                  </a:solidFill>
                </a:endParaRPr>
              </a:p>
            </p:txBody>
          </p:sp>
          <p:grpSp>
            <p:nvGrpSpPr>
              <p:cNvPr id="3" name="Gruppieren 2">
                <a:extLst>
                  <a:ext uri="{FF2B5EF4-FFF2-40B4-BE49-F238E27FC236}">
                    <a16:creationId xmlns:a16="http://schemas.microsoft.com/office/drawing/2014/main" id="{DC9F0E34-C617-48A5-B48E-CACFFCFA438A}"/>
                  </a:ext>
                </a:extLst>
              </p:cNvPr>
              <p:cNvGrpSpPr/>
              <p:nvPr/>
            </p:nvGrpSpPr>
            <p:grpSpPr>
              <a:xfrm>
                <a:off x="5093291" y="3762421"/>
                <a:ext cx="835200" cy="853200"/>
                <a:chOff x="6553858" y="51361"/>
                <a:chExt cx="835200" cy="853200"/>
              </a:xfrm>
            </p:grpSpPr>
            <p:sp>
              <p:nvSpPr>
                <p:cNvPr id="109" name="Google Shape;109;p25"/>
                <p:cNvSpPr txBox="1"/>
                <p:nvPr/>
              </p:nvSpPr>
              <p:spPr>
                <a:xfrm>
                  <a:off x="6553858" y="51361"/>
                  <a:ext cx="835200" cy="8532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0400" tIns="10400" rIns="10400" bIns="10400" anchor="t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10" name="Google Shape;110;p25"/>
                <p:cNvSpPr txBox="1"/>
                <p:nvPr/>
              </p:nvSpPr>
              <p:spPr>
                <a:xfrm>
                  <a:off x="6609879" y="55068"/>
                  <a:ext cx="773950" cy="18000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spcFirstLastPara="1" wrap="square" lIns="10400" tIns="10400" rIns="10400" bIns="10400" anchor="t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b="1" dirty="0">
                      <a:solidFill>
                        <a:schemeClr val="dk1"/>
                      </a:solidFill>
                    </a:rPr>
                    <a:t>Legend</a:t>
                  </a:r>
                  <a:endParaRPr sz="900" b="1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11" name="Google Shape;111;p25"/>
                <p:cNvSpPr txBox="1"/>
                <p:nvPr/>
              </p:nvSpPr>
              <p:spPr>
                <a:xfrm>
                  <a:off x="6609879" y="206159"/>
                  <a:ext cx="720000" cy="1800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0400" tIns="10400" rIns="10400" bIns="1040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dirty="0">
                      <a:solidFill>
                        <a:schemeClr val="dk2"/>
                      </a:solidFill>
                    </a:rPr>
                    <a:t>Free text</a:t>
                  </a:r>
                  <a:endParaRPr sz="800" dirty="0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12" name="Google Shape;112;p25"/>
                <p:cNvSpPr txBox="1"/>
                <p:nvPr/>
              </p:nvSpPr>
              <p:spPr>
                <a:xfrm>
                  <a:off x="6610571" y="418880"/>
                  <a:ext cx="720000" cy="1800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0400" tIns="10400" rIns="10400" bIns="1040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dirty="0">
                      <a:solidFill>
                        <a:schemeClr val="dk2"/>
                      </a:solidFill>
                    </a:rPr>
                    <a:t>Focus: 0/1/2</a:t>
                  </a:r>
                  <a:endParaRPr sz="800" dirty="0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13" name="Google Shape;113;p25"/>
                <p:cNvSpPr txBox="1"/>
                <p:nvPr/>
              </p:nvSpPr>
              <p:spPr>
                <a:xfrm>
                  <a:off x="6610570" y="631599"/>
                  <a:ext cx="720000" cy="1800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ys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0400" tIns="10400" rIns="10400" bIns="1040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dirty="0">
                      <a:solidFill>
                        <a:schemeClr val="dk2"/>
                      </a:solidFill>
                    </a:rPr>
                    <a:t>Categories</a:t>
                  </a:r>
                  <a:endParaRPr sz="800" dirty="0">
                    <a:solidFill>
                      <a:schemeClr val="dk2"/>
                    </a:solidFill>
                  </a:endParaRPr>
                </a:p>
              </p:txBody>
            </p:sp>
          </p:grpSp>
          <p:grpSp>
            <p:nvGrpSpPr>
              <p:cNvPr id="7" name="Gruppieren 6">
                <a:extLst>
                  <a:ext uri="{FF2B5EF4-FFF2-40B4-BE49-F238E27FC236}">
                    <a16:creationId xmlns:a16="http://schemas.microsoft.com/office/drawing/2014/main" id="{8FB6F46F-AAE8-44B4-8BBD-F5FD64AD57BB}"/>
                  </a:ext>
                </a:extLst>
              </p:cNvPr>
              <p:cNvGrpSpPr/>
              <p:nvPr/>
            </p:nvGrpSpPr>
            <p:grpSpPr>
              <a:xfrm>
                <a:off x="3221291" y="1340221"/>
                <a:ext cx="835200" cy="791400"/>
                <a:chOff x="3221291" y="1340221"/>
                <a:chExt cx="835200" cy="791400"/>
              </a:xfrm>
            </p:grpSpPr>
            <p:sp>
              <p:nvSpPr>
                <p:cNvPr id="121" name="Google Shape;121;p25"/>
                <p:cNvSpPr txBox="1"/>
                <p:nvPr/>
              </p:nvSpPr>
              <p:spPr>
                <a:xfrm>
                  <a:off x="3221291" y="1340221"/>
                  <a:ext cx="835200" cy="377400"/>
                </a:xfrm>
                <a:prstGeom prst="rect">
                  <a:avLst/>
                </a:prstGeom>
                <a:solidFill>
                  <a:srgbClr val="EFEFEF"/>
                </a:solidFill>
                <a:ln w="9525" cap="flat" cmpd="sng">
                  <a:solidFill>
                    <a:srgbClr val="7DA7B8"/>
                  </a:solidFill>
                  <a:prstDash val="sys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dirty="0">
                      <a:solidFill>
                        <a:schemeClr val="dk2"/>
                      </a:solidFill>
                    </a:rPr>
                    <a:t>Carbon pool</a:t>
                  </a:r>
                  <a:endParaRPr sz="800" dirty="0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27" name="Google Shape;127;p25"/>
                <p:cNvSpPr txBox="1"/>
                <p:nvPr/>
              </p:nvSpPr>
              <p:spPr>
                <a:xfrm>
                  <a:off x="3221291" y="1754221"/>
                  <a:ext cx="835200" cy="377400"/>
                </a:xfrm>
                <a:prstGeom prst="rect">
                  <a:avLst/>
                </a:prstGeom>
                <a:solidFill>
                  <a:srgbClr val="EFEFEF"/>
                </a:solidFill>
                <a:ln w="9525" cap="flat" cmpd="sng">
                  <a:solidFill>
                    <a:srgbClr val="7DA7B8"/>
                  </a:solidFill>
                  <a:prstDash val="sys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dirty="0">
                      <a:solidFill>
                        <a:schemeClr val="dk2"/>
                      </a:solidFill>
                    </a:rPr>
                    <a:t>Measurement tool</a:t>
                  </a:r>
                  <a:endParaRPr sz="800" dirty="0">
                    <a:solidFill>
                      <a:schemeClr val="dk2"/>
                    </a:solidFill>
                  </a:endParaRPr>
                </a:p>
              </p:txBody>
            </p:sp>
          </p:grpSp>
          <p:grpSp>
            <p:nvGrpSpPr>
              <p:cNvPr id="6" name="Gruppieren 5">
                <a:extLst>
                  <a:ext uri="{FF2B5EF4-FFF2-40B4-BE49-F238E27FC236}">
                    <a16:creationId xmlns:a16="http://schemas.microsoft.com/office/drawing/2014/main" id="{E18E41B0-814C-4F21-8CF0-C4BEC92FEDF4}"/>
                  </a:ext>
                </a:extLst>
              </p:cNvPr>
              <p:cNvGrpSpPr/>
              <p:nvPr/>
            </p:nvGrpSpPr>
            <p:grpSpPr>
              <a:xfrm>
                <a:off x="4157291" y="1340221"/>
                <a:ext cx="835200" cy="791400"/>
                <a:chOff x="4157291" y="1340221"/>
                <a:chExt cx="835200" cy="791400"/>
              </a:xfrm>
            </p:grpSpPr>
            <p:sp>
              <p:nvSpPr>
                <p:cNvPr id="122" name="Google Shape;122;p25"/>
                <p:cNvSpPr txBox="1"/>
                <p:nvPr/>
              </p:nvSpPr>
              <p:spPr>
                <a:xfrm>
                  <a:off x="4157291" y="1340221"/>
                  <a:ext cx="835200" cy="377400"/>
                </a:xfrm>
                <a:prstGeom prst="rect">
                  <a:avLst/>
                </a:prstGeom>
                <a:solidFill>
                  <a:srgbClr val="EFEFEF"/>
                </a:solidFill>
                <a:ln w="9525" cap="flat" cmpd="sng">
                  <a:solidFill>
                    <a:srgbClr val="8DC39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dirty="0">
                      <a:solidFill>
                        <a:schemeClr val="dk2"/>
                      </a:solidFill>
                    </a:rPr>
                    <a:t>Duration</a:t>
                  </a:r>
                  <a:endParaRPr sz="800" dirty="0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28" name="Google Shape;128;p25"/>
                <p:cNvSpPr txBox="1"/>
                <p:nvPr/>
              </p:nvSpPr>
              <p:spPr>
                <a:xfrm>
                  <a:off x="4157291" y="1754221"/>
                  <a:ext cx="835200" cy="377400"/>
                </a:xfrm>
                <a:prstGeom prst="rect">
                  <a:avLst/>
                </a:prstGeom>
                <a:solidFill>
                  <a:srgbClr val="EFEFEF"/>
                </a:solidFill>
                <a:ln w="9525" cap="flat" cmpd="sng">
                  <a:solidFill>
                    <a:srgbClr val="8DC39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dirty="0">
                      <a:solidFill>
                        <a:schemeClr val="dk2"/>
                      </a:solidFill>
                    </a:rPr>
                    <a:t>Frequency</a:t>
                  </a:r>
                  <a:endParaRPr sz="800" dirty="0">
                    <a:solidFill>
                      <a:schemeClr val="dk2"/>
                    </a:solidFill>
                  </a:endParaRPr>
                </a:p>
              </p:txBody>
            </p:sp>
          </p:grpSp>
          <p:grpSp>
            <p:nvGrpSpPr>
              <p:cNvPr id="9" name="Gruppieren 8">
                <a:extLst>
                  <a:ext uri="{FF2B5EF4-FFF2-40B4-BE49-F238E27FC236}">
                    <a16:creationId xmlns:a16="http://schemas.microsoft.com/office/drawing/2014/main" id="{D2982FC5-16D5-458C-8A2F-857E9463CF48}"/>
                  </a:ext>
                </a:extLst>
              </p:cNvPr>
              <p:cNvGrpSpPr/>
              <p:nvPr/>
            </p:nvGrpSpPr>
            <p:grpSpPr>
              <a:xfrm>
                <a:off x="1349291" y="1340221"/>
                <a:ext cx="839559" cy="852938"/>
                <a:chOff x="1349291" y="1340221"/>
                <a:chExt cx="839559" cy="852938"/>
              </a:xfrm>
            </p:grpSpPr>
            <p:sp>
              <p:nvSpPr>
                <p:cNvPr id="118" name="Google Shape;118;p25"/>
                <p:cNvSpPr txBox="1"/>
                <p:nvPr/>
              </p:nvSpPr>
              <p:spPr>
                <a:xfrm>
                  <a:off x="1349291" y="1340221"/>
                  <a:ext cx="835200" cy="180000"/>
                </a:xfrm>
                <a:prstGeom prst="rect">
                  <a:avLst/>
                </a:prstGeom>
                <a:solidFill>
                  <a:srgbClr val="EFEFEF"/>
                </a:solidFill>
                <a:ln w="9525" cap="flat" cmpd="sng">
                  <a:solidFill>
                    <a:srgbClr val="8FBC8F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600" dirty="0">
                      <a:solidFill>
                        <a:schemeClr val="dk2"/>
                      </a:solidFill>
                    </a:rPr>
                    <a:t>Soil carbon sequestration</a:t>
                  </a:r>
                  <a:endParaRPr sz="600" dirty="0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24" name="Google Shape;124;p25"/>
                <p:cNvSpPr txBox="1"/>
                <p:nvPr/>
              </p:nvSpPr>
              <p:spPr>
                <a:xfrm>
                  <a:off x="1349291" y="1563742"/>
                  <a:ext cx="835200" cy="180000"/>
                </a:xfrm>
                <a:prstGeom prst="rect">
                  <a:avLst/>
                </a:prstGeom>
                <a:solidFill>
                  <a:srgbClr val="EFEFEF"/>
                </a:solidFill>
                <a:ln w="9525" cap="flat" cmpd="sng">
                  <a:solidFill>
                    <a:srgbClr val="C1A28A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600" dirty="0">
                      <a:solidFill>
                        <a:schemeClr val="dk2"/>
                      </a:solidFill>
                    </a:rPr>
                    <a:t>Afforestation/ Reforestation</a:t>
                  </a:r>
                  <a:endParaRPr sz="600" dirty="0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30" name="Google Shape;130;p25"/>
                <p:cNvSpPr txBox="1"/>
                <p:nvPr/>
              </p:nvSpPr>
              <p:spPr>
                <a:xfrm>
                  <a:off x="1353650" y="1789250"/>
                  <a:ext cx="835200" cy="180000"/>
                </a:xfrm>
                <a:prstGeom prst="rect">
                  <a:avLst/>
                </a:prstGeom>
                <a:solidFill>
                  <a:srgbClr val="EFEFEF"/>
                </a:solidFill>
                <a:ln w="9525" cap="flat" cmpd="sng">
                  <a:solidFill>
                    <a:srgbClr val="FF7F00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600" dirty="0">
                      <a:solidFill>
                        <a:schemeClr val="dk2"/>
                      </a:solidFill>
                    </a:rPr>
                    <a:t>Forest management</a:t>
                  </a:r>
                  <a:endParaRPr sz="600" dirty="0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34" name="Google Shape;134;p25"/>
                <p:cNvSpPr txBox="1"/>
                <p:nvPr/>
              </p:nvSpPr>
              <p:spPr>
                <a:xfrm>
                  <a:off x="1349291" y="2013159"/>
                  <a:ext cx="835200" cy="180000"/>
                </a:xfrm>
                <a:prstGeom prst="rect">
                  <a:avLst/>
                </a:prstGeom>
                <a:solidFill>
                  <a:srgbClr val="EFEFEF"/>
                </a:solidFill>
                <a:ln w="9525" cap="flat" cmpd="sng">
                  <a:solidFill>
                    <a:schemeClr val="accent3">
                      <a:lumMod val="60000"/>
                      <a:lumOff val="40000"/>
                    </a:schemeClr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600" dirty="0">
                      <a:solidFill>
                        <a:schemeClr val="dk2"/>
                      </a:solidFill>
                    </a:rPr>
                    <a:t>Agroforestry</a:t>
                  </a:r>
                  <a:endParaRPr sz="600" dirty="0">
                    <a:solidFill>
                      <a:schemeClr val="dk2"/>
                    </a:solidFill>
                  </a:endParaRPr>
                </a:p>
              </p:txBody>
            </p:sp>
          </p:grpSp>
          <p:grpSp>
            <p:nvGrpSpPr>
              <p:cNvPr id="10" name="Gruppieren 9">
                <a:extLst>
                  <a:ext uri="{FF2B5EF4-FFF2-40B4-BE49-F238E27FC236}">
                    <a16:creationId xmlns:a16="http://schemas.microsoft.com/office/drawing/2014/main" id="{3C3DDD48-5B42-404B-B180-E5C979F2EAD2}"/>
                  </a:ext>
                </a:extLst>
              </p:cNvPr>
              <p:cNvGrpSpPr/>
              <p:nvPr/>
            </p:nvGrpSpPr>
            <p:grpSpPr>
              <a:xfrm>
                <a:off x="413307" y="1340221"/>
                <a:ext cx="835200" cy="1205400"/>
                <a:chOff x="413307" y="1340221"/>
                <a:chExt cx="835200" cy="1205400"/>
              </a:xfrm>
            </p:grpSpPr>
            <p:sp>
              <p:nvSpPr>
                <p:cNvPr id="120" name="Google Shape;120;p25"/>
                <p:cNvSpPr txBox="1"/>
                <p:nvPr/>
              </p:nvSpPr>
              <p:spPr>
                <a:xfrm>
                  <a:off x="413307" y="1340221"/>
                  <a:ext cx="835200" cy="377400"/>
                </a:xfrm>
                <a:prstGeom prst="rect">
                  <a:avLst/>
                </a:prstGeom>
                <a:solidFill>
                  <a:srgbClr val="EFEFEF"/>
                </a:solidFill>
                <a:ln w="9525" cap="flat" cmpd="sng">
                  <a:solidFill>
                    <a:schemeClr val="bg2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dirty="0">
                      <a:solidFill>
                        <a:schemeClr val="dk2"/>
                      </a:solidFill>
                    </a:rPr>
                    <a:t>Study location</a:t>
                  </a:r>
                  <a:endParaRPr sz="800" dirty="0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26" name="Google Shape;126;p25"/>
                <p:cNvSpPr txBox="1"/>
                <p:nvPr/>
              </p:nvSpPr>
              <p:spPr>
                <a:xfrm>
                  <a:off x="413307" y="1754221"/>
                  <a:ext cx="835200" cy="377400"/>
                </a:xfrm>
                <a:prstGeom prst="rect">
                  <a:avLst/>
                </a:prstGeom>
                <a:solidFill>
                  <a:srgbClr val="EFEFEF"/>
                </a:solidFill>
                <a:ln w="9525" cap="flat" cmpd="sng">
                  <a:solidFill>
                    <a:schemeClr val="bg2">
                      <a:lumMod val="60000"/>
                      <a:lumOff val="40000"/>
                    </a:schemeClr>
                  </a:solidFill>
                  <a:prstDash val="sys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dirty="0">
                      <a:solidFill>
                        <a:schemeClr val="dk2"/>
                      </a:solidFill>
                    </a:rPr>
                    <a:t>Study time period</a:t>
                  </a:r>
                  <a:endParaRPr sz="800" dirty="0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32" name="Google Shape;132;p25"/>
                <p:cNvSpPr txBox="1"/>
                <p:nvPr/>
              </p:nvSpPr>
              <p:spPr>
                <a:xfrm>
                  <a:off x="413307" y="2168221"/>
                  <a:ext cx="835200" cy="377400"/>
                </a:xfrm>
                <a:prstGeom prst="rect">
                  <a:avLst/>
                </a:prstGeom>
                <a:solidFill>
                  <a:srgbClr val="EFEFEF"/>
                </a:solidFill>
                <a:ln w="9525" cap="flat" cmpd="sng">
                  <a:solidFill>
                    <a:schemeClr val="bg2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dirty="0">
                      <a:solidFill>
                        <a:schemeClr val="dk2"/>
                      </a:solidFill>
                    </a:rPr>
                    <a:t>Research method</a:t>
                  </a:r>
                  <a:endParaRPr sz="800" dirty="0">
                    <a:solidFill>
                      <a:schemeClr val="dk2"/>
                    </a:solidFill>
                  </a:endParaRPr>
                </a:p>
              </p:txBody>
            </p:sp>
          </p:grpSp>
          <p:grpSp>
            <p:nvGrpSpPr>
              <p:cNvPr id="5" name="Gruppieren 4">
                <a:extLst>
                  <a:ext uri="{FF2B5EF4-FFF2-40B4-BE49-F238E27FC236}">
                    <a16:creationId xmlns:a16="http://schemas.microsoft.com/office/drawing/2014/main" id="{479FF9B1-B082-4FDC-AC9A-235E2D7B0652}"/>
                  </a:ext>
                </a:extLst>
              </p:cNvPr>
              <p:cNvGrpSpPr/>
              <p:nvPr/>
            </p:nvGrpSpPr>
            <p:grpSpPr>
              <a:xfrm>
                <a:off x="5093291" y="1340221"/>
                <a:ext cx="835200" cy="1619400"/>
                <a:chOff x="5093291" y="1340221"/>
                <a:chExt cx="835200" cy="1619400"/>
              </a:xfrm>
            </p:grpSpPr>
            <p:sp>
              <p:nvSpPr>
                <p:cNvPr id="123" name="Google Shape;123;p25"/>
                <p:cNvSpPr txBox="1"/>
                <p:nvPr/>
              </p:nvSpPr>
              <p:spPr>
                <a:xfrm>
                  <a:off x="5093291" y="1340221"/>
                  <a:ext cx="835200" cy="377400"/>
                </a:xfrm>
                <a:prstGeom prst="rect">
                  <a:avLst/>
                </a:prstGeom>
                <a:solidFill>
                  <a:srgbClr val="EFEFEF"/>
                </a:solidFill>
                <a:ln w="9525" cap="flat" cmpd="sng">
                  <a:solidFill>
                    <a:srgbClr val="C76A85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dirty="0">
                      <a:solidFill>
                        <a:schemeClr val="dk2"/>
                      </a:solidFill>
                    </a:rPr>
                    <a:t>Durability</a:t>
                  </a:r>
                  <a:endParaRPr sz="800" dirty="0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29" name="Google Shape;129;p25"/>
                <p:cNvSpPr txBox="1"/>
                <p:nvPr/>
              </p:nvSpPr>
              <p:spPr>
                <a:xfrm>
                  <a:off x="5093291" y="1754221"/>
                  <a:ext cx="835200" cy="377400"/>
                </a:xfrm>
                <a:prstGeom prst="rect">
                  <a:avLst/>
                </a:prstGeom>
                <a:solidFill>
                  <a:srgbClr val="EFEFEF"/>
                </a:solidFill>
                <a:ln w="9525" cap="flat" cmpd="sng">
                  <a:solidFill>
                    <a:srgbClr val="C76A85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dirty="0">
                      <a:solidFill>
                        <a:schemeClr val="dk2"/>
                      </a:solidFill>
                    </a:rPr>
                    <a:t>Leakage</a:t>
                  </a:r>
                  <a:endParaRPr sz="800" dirty="0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33" name="Google Shape;133;p25"/>
                <p:cNvSpPr txBox="1"/>
                <p:nvPr/>
              </p:nvSpPr>
              <p:spPr>
                <a:xfrm>
                  <a:off x="5093291" y="2168221"/>
                  <a:ext cx="835200" cy="377400"/>
                </a:xfrm>
                <a:prstGeom prst="rect">
                  <a:avLst/>
                </a:prstGeom>
                <a:solidFill>
                  <a:srgbClr val="EFEFEF"/>
                </a:solidFill>
                <a:ln w="9525" cap="flat" cmpd="sng">
                  <a:solidFill>
                    <a:srgbClr val="C76A85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dirty="0">
                      <a:solidFill>
                        <a:schemeClr val="dk2"/>
                      </a:solidFill>
                    </a:rPr>
                    <a:t>Additionality</a:t>
                  </a:r>
                  <a:endParaRPr sz="800" dirty="0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37" name="Google Shape;137;p25"/>
                <p:cNvSpPr txBox="1"/>
                <p:nvPr/>
              </p:nvSpPr>
              <p:spPr>
                <a:xfrm>
                  <a:off x="5093291" y="2582221"/>
                  <a:ext cx="835200" cy="377400"/>
                </a:xfrm>
                <a:prstGeom prst="rect">
                  <a:avLst/>
                </a:prstGeom>
                <a:solidFill>
                  <a:srgbClr val="EFEFEF"/>
                </a:solidFill>
                <a:ln w="9525" cap="flat" cmpd="sng">
                  <a:solidFill>
                    <a:srgbClr val="C76A85"/>
                  </a:solidFill>
                  <a:prstDash val="sys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dirty="0">
                      <a:solidFill>
                        <a:schemeClr val="dk2"/>
                      </a:solidFill>
                    </a:rPr>
                    <a:t>Uncertainty</a:t>
                  </a:r>
                  <a:endParaRPr sz="800" dirty="0">
                    <a:solidFill>
                      <a:schemeClr val="dk2"/>
                    </a:solidFill>
                  </a:endParaRPr>
                </a:p>
              </p:txBody>
            </p:sp>
          </p:grpSp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1B12C890-6EA1-44A3-A3CD-AA36F6819114}"/>
                  </a:ext>
                </a:extLst>
              </p:cNvPr>
              <p:cNvGrpSpPr/>
              <p:nvPr/>
            </p:nvGrpSpPr>
            <p:grpSpPr>
              <a:xfrm>
                <a:off x="2283447" y="1340221"/>
                <a:ext cx="837044" cy="3275400"/>
                <a:chOff x="2283447" y="1340221"/>
                <a:chExt cx="837044" cy="3275400"/>
              </a:xfrm>
            </p:grpSpPr>
            <p:sp>
              <p:nvSpPr>
                <p:cNvPr id="119" name="Google Shape;119;p25"/>
                <p:cNvSpPr txBox="1"/>
                <p:nvPr/>
              </p:nvSpPr>
              <p:spPr>
                <a:xfrm>
                  <a:off x="2283447" y="1340221"/>
                  <a:ext cx="835200" cy="377400"/>
                </a:xfrm>
                <a:prstGeom prst="rect">
                  <a:avLst/>
                </a:prstGeom>
                <a:solidFill>
                  <a:srgbClr val="EFEFEF"/>
                </a:solidFill>
                <a:ln w="9525" cap="flat" cmpd="sng">
                  <a:solidFill>
                    <a:srgbClr val="38761D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dirty="0">
                      <a:solidFill>
                        <a:schemeClr val="dk2"/>
                      </a:solidFill>
                    </a:rPr>
                    <a:t>General MRV</a:t>
                  </a:r>
                  <a:endParaRPr sz="800" dirty="0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25" name="Google Shape;125;p25"/>
                <p:cNvSpPr txBox="1"/>
                <p:nvPr/>
              </p:nvSpPr>
              <p:spPr>
                <a:xfrm>
                  <a:off x="2285225" y="1754221"/>
                  <a:ext cx="835200" cy="360000"/>
                </a:xfrm>
                <a:prstGeom prst="rect">
                  <a:avLst/>
                </a:prstGeom>
                <a:solidFill>
                  <a:srgbClr val="EFEFEF"/>
                </a:solidFill>
                <a:ln w="9525" cap="flat" cmpd="sng">
                  <a:solidFill>
                    <a:srgbClr val="7DA7B8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dirty="0">
                      <a:solidFill>
                        <a:schemeClr val="dk2"/>
                      </a:solidFill>
                    </a:rPr>
                    <a:t>Quantification</a:t>
                  </a:r>
                  <a:endParaRPr sz="800" dirty="0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31" name="Google Shape;131;p25"/>
                <p:cNvSpPr txBox="1"/>
                <p:nvPr/>
              </p:nvSpPr>
              <p:spPr>
                <a:xfrm>
                  <a:off x="2285291" y="2168221"/>
                  <a:ext cx="835200" cy="377400"/>
                </a:xfrm>
                <a:prstGeom prst="rect">
                  <a:avLst/>
                </a:prstGeom>
                <a:solidFill>
                  <a:srgbClr val="EFEFEF"/>
                </a:solidFill>
                <a:ln w="9525" cap="flat" cmpd="sng">
                  <a:solidFill>
                    <a:srgbClr val="8DC39F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dirty="0">
                      <a:solidFill>
                        <a:schemeClr val="dk2"/>
                      </a:solidFill>
                    </a:rPr>
                    <a:t>Monitoring</a:t>
                  </a:r>
                  <a:endParaRPr sz="800" dirty="0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35" name="Google Shape;135;p25"/>
                <p:cNvSpPr txBox="1"/>
                <p:nvPr/>
              </p:nvSpPr>
              <p:spPr>
                <a:xfrm>
                  <a:off x="2285225" y="2582221"/>
                  <a:ext cx="835200" cy="377400"/>
                </a:xfrm>
                <a:prstGeom prst="rect">
                  <a:avLst/>
                </a:prstGeom>
                <a:solidFill>
                  <a:srgbClr val="EFEFEF"/>
                </a:solidFill>
                <a:ln w="9525" cap="flat" cmpd="sng">
                  <a:solidFill>
                    <a:srgbClr val="C76A85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dirty="0">
                      <a:solidFill>
                        <a:schemeClr val="dk2"/>
                      </a:solidFill>
                    </a:rPr>
                    <a:t>Quality</a:t>
                  </a:r>
                  <a:endParaRPr sz="800" dirty="0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38" name="Google Shape;138;p25"/>
                <p:cNvSpPr txBox="1"/>
                <p:nvPr/>
              </p:nvSpPr>
              <p:spPr>
                <a:xfrm>
                  <a:off x="2285225" y="2996221"/>
                  <a:ext cx="835200" cy="377400"/>
                </a:xfrm>
                <a:prstGeom prst="rect">
                  <a:avLst/>
                </a:prstGeom>
                <a:solidFill>
                  <a:srgbClr val="EFEFEF"/>
                </a:solidFill>
                <a:ln w="9525" cap="flat" cmpd="sng">
                  <a:solidFill>
                    <a:srgbClr val="B39BC8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dirty="0">
                      <a:solidFill>
                        <a:schemeClr val="dk2"/>
                      </a:solidFill>
                    </a:rPr>
                    <a:t>Governance</a:t>
                  </a:r>
                  <a:endParaRPr sz="800" dirty="0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39" name="Google Shape;139;p25"/>
                <p:cNvSpPr txBox="1"/>
                <p:nvPr/>
              </p:nvSpPr>
              <p:spPr>
                <a:xfrm>
                  <a:off x="2285225" y="3410221"/>
                  <a:ext cx="835200" cy="377400"/>
                </a:xfrm>
                <a:prstGeom prst="rect">
                  <a:avLst/>
                </a:prstGeom>
                <a:solidFill>
                  <a:srgbClr val="EFEFEF"/>
                </a:solidFill>
                <a:ln w="9525" cap="flat" cmpd="sng">
                  <a:solidFill>
                    <a:srgbClr val="E1A6B8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>
                      <a:solidFill>
                        <a:schemeClr val="dk2"/>
                      </a:solidFill>
                    </a:rPr>
                    <a:t>Reporting</a:t>
                  </a:r>
                  <a:endParaRPr sz="800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40" name="Google Shape;140;p25"/>
                <p:cNvSpPr txBox="1"/>
                <p:nvPr/>
              </p:nvSpPr>
              <p:spPr>
                <a:xfrm>
                  <a:off x="2285225" y="3824221"/>
                  <a:ext cx="835200" cy="377400"/>
                </a:xfrm>
                <a:prstGeom prst="rect">
                  <a:avLst/>
                </a:prstGeom>
                <a:solidFill>
                  <a:srgbClr val="EFEFEF"/>
                </a:solidFill>
                <a:ln w="9525" cap="flat" cmpd="sng">
                  <a:solidFill>
                    <a:srgbClr val="A8A8A8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dirty="0">
                      <a:solidFill>
                        <a:schemeClr val="dk2"/>
                      </a:solidFill>
                    </a:rPr>
                    <a:t>Verification</a:t>
                  </a:r>
                  <a:endParaRPr sz="800" dirty="0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41" name="Google Shape;141;p25"/>
                <p:cNvSpPr txBox="1"/>
                <p:nvPr/>
              </p:nvSpPr>
              <p:spPr>
                <a:xfrm>
                  <a:off x="2285225" y="4238221"/>
                  <a:ext cx="835200" cy="377400"/>
                </a:xfrm>
                <a:prstGeom prst="rect">
                  <a:avLst/>
                </a:prstGeom>
                <a:solidFill>
                  <a:srgbClr val="EFEFEF"/>
                </a:solidFill>
                <a:ln w="9525" cap="flat" cmpd="sng">
                  <a:solidFill>
                    <a:srgbClr val="D0C97B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dirty="0">
                      <a:solidFill>
                        <a:schemeClr val="dk2"/>
                      </a:solidFill>
                    </a:rPr>
                    <a:t>External impacts</a:t>
                  </a:r>
                  <a:endParaRPr sz="800" dirty="0">
                    <a:solidFill>
                      <a:schemeClr val="dk2"/>
                    </a:solidFill>
                  </a:endParaRPr>
                </a:p>
              </p:txBody>
            </p:sp>
          </p:grpSp>
          <p:grpSp>
            <p:nvGrpSpPr>
              <p:cNvPr id="4" name="Gruppieren 3">
                <a:extLst>
                  <a:ext uri="{FF2B5EF4-FFF2-40B4-BE49-F238E27FC236}">
                    <a16:creationId xmlns:a16="http://schemas.microsoft.com/office/drawing/2014/main" id="{462D909F-8293-43CA-AECB-1E1C72217105}"/>
                  </a:ext>
                </a:extLst>
              </p:cNvPr>
              <p:cNvGrpSpPr/>
              <p:nvPr/>
            </p:nvGrpSpPr>
            <p:grpSpPr>
              <a:xfrm>
                <a:off x="413307" y="860326"/>
                <a:ext cx="5515184" cy="377999"/>
                <a:chOff x="413307" y="860326"/>
                <a:chExt cx="5515184" cy="377999"/>
              </a:xfrm>
            </p:grpSpPr>
            <p:sp>
              <p:nvSpPr>
                <p:cNvPr id="114" name="Google Shape;114;p25"/>
                <p:cNvSpPr txBox="1"/>
                <p:nvPr/>
              </p:nvSpPr>
              <p:spPr>
                <a:xfrm>
                  <a:off x="413307" y="860629"/>
                  <a:ext cx="835200" cy="377400"/>
                </a:xfrm>
                <a:prstGeom prst="rect">
                  <a:avLst/>
                </a:prstGeom>
                <a:solidFill>
                  <a:srgbClr val="9B9B9B">
                    <a:alpha val="50196"/>
                  </a:srgbClr>
                </a:solidFill>
                <a:ln w="9525" cap="flat" cmpd="sng">
                  <a:solidFill>
                    <a:schemeClr val="bg2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b="1" dirty="0">
                      <a:solidFill>
                        <a:schemeClr val="dk1"/>
                      </a:solidFill>
                    </a:rPr>
                    <a:t>Study data</a:t>
                  </a:r>
                  <a:endParaRPr sz="800" b="1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15" name="Google Shape;115;p25"/>
                <p:cNvSpPr txBox="1"/>
                <p:nvPr/>
              </p:nvSpPr>
              <p:spPr>
                <a:xfrm>
                  <a:off x="3221291" y="860626"/>
                  <a:ext cx="835200" cy="377400"/>
                </a:xfrm>
                <a:prstGeom prst="rect">
                  <a:avLst/>
                </a:prstGeom>
                <a:solidFill>
                  <a:srgbClr val="7DA7B8">
                    <a:alpha val="50196"/>
                  </a:srgbClr>
                </a:solidFill>
                <a:ln w="9525" cap="flat" cmpd="sng">
                  <a:solidFill>
                    <a:srgbClr val="7DA7B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b="1" dirty="0">
                      <a:solidFill>
                        <a:schemeClr val="dk1"/>
                      </a:solidFill>
                    </a:rPr>
                    <a:t>Quantification</a:t>
                  </a:r>
                  <a:endParaRPr sz="800" b="1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16" name="Google Shape;116;p25"/>
                <p:cNvSpPr txBox="1"/>
                <p:nvPr/>
              </p:nvSpPr>
              <p:spPr>
                <a:xfrm>
                  <a:off x="4157291" y="860630"/>
                  <a:ext cx="835200" cy="377400"/>
                </a:xfrm>
                <a:prstGeom prst="rect">
                  <a:avLst/>
                </a:prstGeom>
                <a:solidFill>
                  <a:srgbClr val="8DC39F">
                    <a:alpha val="50196"/>
                  </a:srgbClr>
                </a:solidFill>
                <a:ln w="9525" cap="flat" cmpd="sng">
                  <a:solidFill>
                    <a:srgbClr val="8DC39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b="1" dirty="0">
                      <a:solidFill>
                        <a:schemeClr val="dk1"/>
                      </a:solidFill>
                    </a:rPr>
                    <a:t>Monitoring</a:t>
                  </a:r>
                  <a:endParaRPr sz="800" b="1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17" name="Google Shape;117;p25"/>
                <p:cNvSpPr txBox="1"/>
                <p:nvPr/>
              </p:nvSpPr>
              <p:spPr>
                <a:xfrm>
                  <a:off x="5093291" y="860925"/>
                  <a:ext cx="835200" cy="377400"/>
                </a:xfrm>
                <a:prstGeom prst="rect">
                  <a:avLst/>
                </a:prstGeom>
                <a:solidFill>
                  <a:srgbClr val="C76A85">
                    <a:alpha val="50196"/>
                  </a:srgbClr>
                </a:solidFill>
                <a:ln w="9525" cap="flat" cmpd="sng">
                  <a:solidFill>
                    <a:srgbClr val="C76A8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b="1" dirty="0">
                      <a:solidFill>
                        <a:schemeClr val="dk1"/>
                      </a:solidFill>
                    </a:rPr>
                    <a:t>Quality</a:t>
                  </a:r>
                  <a:endParaRPr sz="800" b="1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42" name="Google Shape;142;p25"/>
                <p:cNvSpPr txBox="1"/>
                <p:nvPr/>
              </p:nvSpPr>
              <p:spPr>
                <a:xfrm>
                  <a:off x="1349291" y="860326"/>
                  <a:ext cx="835200" cy="377400"/>
                </a:xfrm>
                <a:prstGeom prst="rect">
                  <a:avLst/>
                </a:prstGeom>
                <a:solidFill>
                  <a:schemeClr val="accent2">
                    <a:lumMod val="25000"/>
                    <a:lumOff val="75000"/>
                  </a:schemeClr>
                </a:solidFill>
                <a:ln w="9525" cap="flat" cmpd="sng">
                  <a:solidFill>
                    <a:schemeClr val="accent3">
                      <a:lumMod val="7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b="1" dirty="0">
                      <a:solidFill>
                        <a:schemeClr val="dk1"/>
                      </a:solidFill>
                    </a:rPr>
                    <a:t>CDR method</a:t>
                  </a:r>
                  <a:endParaRPr sz="800" b="1" dirty="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43" name="Google Shape;143;p25"/>
                <p:cNvSpPr txBox="1"/>
                <p:nvPr/>
              </p:nvSpPr>
              <p:spPr>
                <a:xfrm>
                  <a:off x="2285291" y="860326"/>
                  <a:ext cx="835200" cy="377400"/>
                </a:xfrm>
                <a:prstGeom prst="rect">
                  <a:avLst/>
                </a:prstGeom>
                <a:solidFill>
                  <a:srgbClr val="E69138">
                    <a:alpha val="50196"/>
                  </a:srgbClr>
                </a:solidFill>
                <a:ln w="9525" cap="flat" cmpd="sng">
                  <a:solidFill>
                    <a:srgbClr val="E6913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150" tIns="13150" rIns="13150" bIns="131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de" sz="800" b="1" dirty="0">
                      <a:solidFill>
                        <a:schemeClr val="dk1"/>
                      </a:solidFill>
                    </a:rPr>
                    <a:t>MRV topic</a:t>
                  </a:r>
                  <a:endParaRPr sz="800" b="1" dirty="0">
                    <a:solidFill>
                      <a:schemeClr val="dk1"/>
                    </a:solidFill>
                  </a:endParaRPr>
                </a:p>
              </p:txBody>
            </p:sp>
          </p:grpSp>
          <p:sp>
            <p:nvSpPr>
              <p:cNvPr id="103" name="Google Shape;103;p25"/>
              <p:cNvSpPr txBox="1"/>
              <p:nvPr/>
            </p:nvSpPr>
            <p:spPr>
              <a:xfrm>
                <a:off x="326433" y="629322"/>
                <a:ext cx="5700294" cy="2310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3150" tIns="13150" rIns="13150" bIns="131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de" sz="1000" b="1" dirty="0">
                    <a:solidFill>
                      <a:schemeClr val="dk1"/>
                    </a:solidFill>
                  </a:rPr>
                  <a:t>Coding scheme</a:t>
                </a:r>
                <a:endParaRPr sz="1000" b="1" dirty="0"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49" name="Google Shape;120;p25">
              <a:extLst>
                <a:ext uri="{FF2B5EF4-FFF2-40B4-BE49-F238E27FC236}">
                  <a16:creationId xmlns:a16="http://schemas.microsoft.com/office/drawing/2014/main" id="{61B55BA0-49B1-4511-9C94-2C85CCA89AE9}"/>
                </a:ext>
              </a:extLst>
            </p:cNvPr>
            <p:cNvSpPr txBox="1"/>
            <p:nvPr/>
          </p:nvSpPr>
          <p:spPr>
            <a:xfrm>
              <a:off x="1075581" y="1259697"/>
              <a:ext cx="835200" cy="37740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150" tIns="13150" rIns="13150" bIns="13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800" dirty="0">
                  <a:solidFill>
                    <a:schemeClr val="dk2"/>
                  </a:solidFill>
                </a:rPr>
                <a:t>Study ID</a:t>
              </a:r>
              <a:endParaRPr sz="800" dirty="0">
                <a:solidFill>
                  <a:schemeClr val="dk2"/>
                </a:solidFill>
              </a:endParaRPr>
            </a:p>
          </p:txBody>
        </p:sp>
        <p:sp>
          <p:nvSpPr>
            <p:cNvPr id="50" name="Google Shape;126;p25">
              <a:extLst>
                <a:ext uri="{FF2B5EF4-FFF2-40B4-BE49-F238E27FC236}">
                  <a16:creationId xmlns:a16="http://schemas.microsoft.com/office/drawing/2014/main" id="{DC15EB1A-6EAB-40A0-806B-123D5F116206}"/>
                </a:ext>
              </a:extLst>
            </p:cNvPr>
            <p:cNvSpPr txBox="1"/>
            <p:nvPr/>
          </p:nvSpPr>
          <p:spPr>
            <a:xfrm>
              <a:off x="1075581" y="1673697"/>
              <a:ext cx="835200" cy="37740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chemeClr val="bg2">
                  <a:lumMod val="60000"/>
                  <a:lumOff val="40000"/>
                </a:schemeClr>
              </a:solidFill>
              <a:prstDash val="sysDash"/>
              <a:round/>
              <a:headEnd type="none" w="sm" len="sm"/>
              <a:tailEnd type="none" w="sm" len="sm"/>
            </a:ln>
          </p:spPr>
          <p:txBody>
            <a:bodyPr spcFirstLastPara="1" wrap="square" lIns="13150" tIns="13150" rIns="13150" bIns="13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800" dirty="0">
                  <a:solidFill>
                    <a:schemeClr val="dk2"/>
                  </a:solidFill>
                </a:rPr>
                <a:t>Coder</a:t>
              </a:r>
              <a:endParaRPr sz="800" dirty="0">
                <a:solidFill>
                  <a:schemeClr val="dk2"/>
                </a:solidFill>
              </a:endParaRPr>
            </a:p>
          </p:txBody>
        </p:sp>
        <p:sp>
          <p:nvSpPr>
            <p:cNvPr id="51" name="Google Shape;132;p25">
              <a:extLst>
                <a:ext uri="{FF2B5EF4-FFF2-40B4-BE49-F238E27FC236}">
                  <a16:creationId xmlns:a16="http://schemas.microsoft.com/office/drawing/2014/main" id="{1B1FF629-7923-43A1-8DF0-A0B6C7B2D6DA}"/>
                </a:ext>
              </a:extLst>
            </p:cNvPr>
            <p:cNvSpPr txBox="1"/>
            <p:nvPr/>
          </p:nvSpPr>
          <p:spPr>
            <a:xfrm>
              <a:off x="1075581" y="2087697"/>
              <a:ext cx="835200" cy="37740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150" tIns="13150" rIns="13150" bIns="13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800" dirty="0">
                  <a:solidFill>
                    <a:schemeClr val="dk2"/>
                  </a:solidFill>
                </a:rPr>
                <a:t>Inclusion/ Exclusion</a:t>
              </a:r>
              <a:endParaRPr sz="800" dirty="0">
                <a:solidFill>
                  <a:schemeClr val="dk2"/>
                </a:solidFill>
              </a:endParaRPr>
            </a:p>
          </p:txBody>
        </p:sp>
        <p:sp>
          <p:nvSpPr>
            <p:cNvPr id="52" name="Google Shape;136;p25">
              <a:extLst>
                <a:ext uri="{FF2B5EF4-FFF2-40B4-BE49-F238E27FC236}">
                  <a16:creationId xmlns:a16="http://schemas.microsoft.com/office/drawing/2014/main" id="{C906F6AB-457E-4AAE-9F30-17BA9D17B0F4}"/>
                </a:ext>
              </a:extLst>
            </p:cNvPr>
            <p:cNvSpPr txBox="1"/>
            <p:nvPr/>
          </p:nvSpPr>
          <p:spPr>
            <a:xfrm>
              <a:off x="1075581" y="2501697"/>
              <a:ext cx="835200" cy="37740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150" tIns="13150" rIns="13150" bIns="13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800" dirty="0">
                  <a:solidFill>
                    <a:schemeClr val="dk2"/>
                  </a:solidFill>
                </a:rPr>
                <a:t>Author</a:t>
              </a:r>
              <a:endParaRPr sz="800" dirty="0">
                <a:solidFill>
                  <a:schemeClr val="dk2"/>
                </a:solidFill>
              </a:endParaRPr>
            </a:p>
          </p:txBody>
        </p:sp>
        <p:sp>
          <p:nvSpPr>
            <p:cNvPr id="53" name="Google Shape;114;p25">
              <a:extLst>
                <a:ext uri="{FF2B5EF4-FFF2-40B4-BE49-F238E27FC236}">
                  <a16:creationId xmlns:a16="http://schemas.microsoft.com/office/drawing/2014/main" id="{AB14E7BD-B608-4736-8B28-786E59992652}"/>
                </a:ext>
              </a:extLst>
            </p:cNvPr>
            <p:cNvSpPr txBox="1"/>
            <p:nvPr/>
          </p:nvSpPr>
          <p:spPr>
            <a:xfrm>
              <a:off x="1075581" y="780105"/>
              <a:ext cx="835200" cy="377400"/>
            </a:xfrm>
            <a:prstGeom prst="rect">
              <a:avLst/>
            </a:prstGeom>
            <a:solidFill>
              <a:srgbClr val="9B9B9B">
                <a:alpha val="50196"/>
              </a:srgbClr>
            </a:solidFill>
            <a:ln w="952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150" tIns="13150" rIns="13150" bIns="13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800" b="1" dirty="0">
                  <a:solidFill>
                    <a:schemeClr val="dk1"/>
                  </a:solidFill>
                </a:rPr>
                <a:t>Meta data</a:t>
              </a:r>
              <a:endParaRPr sz="800" b="1" dirty="0">
                <a:solidFill>
                  <a:schemeClr val="dk1"/>
                </a:solidFill>
              </a:endParaRPr>
            </a:p>
          </p:txBody>
        </p:sp>
        <p:sp>
          <p:nvSpPr>
            <p:cNvPr id="54" name="Google Shape;136;p25">
              <a:extLst>
                <a:ext uri="{FF2B5EF4-FFF2-40B4-BE49-F238E27FC236}">
                  <a16:creationId xmlns:a16="http://schemas.microsoft.com/office/drawing/2014/main" id="{3BC56D19-91F4-464A-BBE2-76D9396BB253}"/>
                </a:ext>
              </a:extLst>
            </p:cNvPr>
            <p:cNvSpPr txBox="1"/>
            <p:nvPr/>
          </p:nvSpPr>
          <p:spPr>
            <a:xfrm>
              <a:off x="1075581" y="2916000"/>
              <a:ext cx="835200" cy="37740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150" tIns="13150" rIns="13150" bIns="13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800" dirty="0">
                  <a:solidFill>
                    <a:schemeClr val="dk2"/>
                  </a:solidFill>
                </a:rPr>
                <a:t>Publication yeart</a:t>
              </a:r>
              <a:endParaRPr sz="800" dirty="0">
                <a:solidFill>
                  <a:schemeClr val="dk2"/>
                </a:solidFill>
              </a:endParaRPr>
            </a:p>
          </p:txBody>
        </p:sp>
        <p:sp>
          <p:nvSpPr>
            <p:cNvPr id="55" name="Google Shape;136;p25">
              <a:extLst>
                <a:ext uri="{FF2B5EF4-FFF2-40B4-BE49-F238E27FC236}">
                  <a16:creationId xmlns:a16="http://schemas.microsoft.com/office/drawing/2014/main" id="{50C0045F-B084-43EF-9DAB-22C910F4ED84}"/>
                </a:ext>
              </a:extLst>
            </p:cNvPr>
            <p:cNvSpPr txBox="1"/>
            <p:nvPr/>
          </p:nvSpPr>
          <p:spPr>
            <a:xfrm>
              <a:off x="1075581" y="3330000"/>
              <a:ext cx="835200" cy="37740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150" tIns="13150" rIns="13150" bIns="13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800" dirty="0">
                  <a:solidFill>
                    <a:schemeClr val="dk2"/>
                  </a:solidFill>
                </a:rPr>
                <a:t>Study title</a:t>
              </a:r>
              <a:endParaRPr sz="800" dirty="0">
                <a:solidFill>
                  <a:schemeClr val="dk2"/>
                </a:solidFill>
              </a:endParaRPr>
            </a:p>
          </p:txBody>
        </p:sp>
        <p:sp>
          <p:nvSpPr>
            <p:cNvPr id="56" name="Google Shape;136;p25">
              <a:extLst>
                <a:ext uri="{FF2B5EF4-FFF2-40B4-BE49-F238E27FC236}">
                  <a16:creationId xmlns:a16="http://schemas.microsoft.com/office/drawing/2014/main" id="{3C5F3BE4-15BE-475A-97D3-9BE7E51037E1}"/>
                </a:ext>
              </a:extLst>
            </p:cNvPr>
            <p:cNvSpPr txBox="1"/>
            <p:nvPr/>
          </p:nvSpPr>
          <p:spPr>
            <a:xfrm>
              <a:off x="1075581" y="3744000"/>
              <a:ext cx="835200" cy="37740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chemeClr val="bg2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150" tIns="13150" rIns="13150" bIns="13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800" dirty="0">
                  <a:solidFill>
                    <a:schemeClr val="dk2"/>
                  </a:solidFill>
                </a:rPr>
                <a:t>Journal</a:t>
              </a:r>
              <a:endParaRPr sz="800" dirty="0">
                <a:solidFill>
                  <a:schemeClr val="dk2"/>
                </a:solidFill>
              </a:endParaRPr>
            </a:p>
          </p:txBody>
        </p:sp>
        <p:sp>
          <p:nvSpPr>
            <p:cNvPr id="62" name="Google Shape;118;p25">
              <a:extLst>
                <a:ext uri="{FF2B5EF4-FFF2-40B4-BE49-F238E27FC236}">
                  <a16:creationId xmlns:a16="http://schemas.microsoft.com/office/drawing/2014/main" id="{75792AEC-CE46-4509-BEC6-D2C899E956E5}"/>
                </a:ext>
              </a:extLst>
            </p:cNvPr>
            <p:cNvSpPr txBox="1"/>
            <p:nvPr/>
          </p:nvSpPr>
          <p:spPr>
            <a:xfrm>
              <a:off x="2949491" y="2157763"/>
              <a:ext cx="835200" cy="18000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rgbClr val="8FBC8F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3150" tIns="13150" rIns="13150" bIns="13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DE" sz="600" dirty="0">
                  <a:solidFill>
                    <a:schemeClr val="dk2"/>
                  </a:solidFill>
                </a:rPr>
                <a:t>General </a:t>
              </a:r>
              <a:r>
                <a:rPr lang="de-DE" sz="600" dirty="0" err="1">
                  <a:solidFill>
                    <a:schemeClr val="dk2"/>
                  </a:solidFill>
                </a:rPr>
                <a:t>forestry</a:t>
              </a:r>
              <a:endParaRPr sz="600" dirty="0">
                <a:solidFill>
                  <a:schemeClr val="dk2"/>
                </a:solidFill>
              </a:endParaRPr>
            </a:p>
          </p:txBody>
        </p:sp>
        <p:sp>
          <p:nvSpPr>
            <p:cNvPr id="63" name="Google Shape;124;p25">
              <a:extLst>
                <a:ext uri="{FF2B5EF4-FFF2-40B4-BE49-F238E27FC236}">
                  <a16:creationId xmlns:a16="http://schemas.microsoft.com/office/drawing/2014/main" id="{49F0396A-A180-4E20-B40A-EDB417D1BECB}"/>
                </a:ext>
              </a:extLst>
            </p:cNvPr>
            <p:cNvSpPr txBox="1"/>
            <p:nvPr/>
          </p:nvSpPr>
          <p:spPr>
            <a:xfrm>
              <a:off x="2949491" y="2386409"/>
              <a:ext cx="835200" cy="18000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rgbClr val="C1A28A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3150" tIns="13150" rIns="13150" bIns="13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600" dirty="0">
                  <a:solidFill>
                    <a:schemeClr val="dk2"/>
                  </a:solidFill>
                </a:rPr>
                <a:t>Biochar</a:t>
              </a:r>
              <a:endParaRPr sz="600" dirty="0">
                <a:solidFill>
                  <a:schemeClr val="dk2"/>
                </a:solidFill>
              </a:endParaRPr>
            </a:p>
          </p:txBody>
        </p:sp>
        <p:sp>
          <p:nvSpPr>
            <p:cNvPr id="64" name="Google Shape;130;p25">
              <a:extLst>
                <a:ext uri="{FF2B5EF4-FFF2-40B4-BE49-F238E27FC236}">
                  <a16:creationId xmlns:a16="http://schemas.microsoft.com/office/drawing/2014/main" id="{7BCA1047-B239-437B-89CA-10C64D1F2B90}"/>
                </a:ext>
              </a:extLst>
            </p:cNvPr>
            <p:cNvSpPr txBox="1"/>
            <p:nvPr/>
          </p:nvSpPr>
          <p:spPr>
            <a:xfrm>
              <a:off x="2953850" y="2615055"/>
              <a:ext cx="835200" cy="18000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rgbClr val="FF7F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3150" tIns="13150" rIns="13150" bIns="13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600" dirty="0">
                  <a:solidFill>
                    <a:schemeClr val="dk2"/>
                  </a:solidFill>
                </a:rPr>
                <a:t>Restoration of landscapes/peats</a:t>
              </a:r>
              <a:endParaRPr sz="600" dirty="0">
                <a:solidFill>
                  <a:schemeClr val="dk2"/>
                </a:solidFill>
              </a:endParaRPr>
            </a:p>
          </p:txBody>
        </p:sp>
        <p:sp>
          <p:nvSpPr>
            <p:cNvPr id="65" name="Google Shape;134;p25">
              <a:extLst>
                <a:ext uri="{FF2B5EF4-FFF2-40B4-BE49-F238E27FC236}">
                  <a16:creationId xmlns:a16="http://schemas.microsoft.com/office/drawing/2014/main" id="{5AA2CD42-99B6-4126-9FBB-F3107BAC6B49}"/>
                </a:ext>
              </a:extLst>
            </p:cNvPr>
            <p:cNvSpPr txBox="1"/>
            <p:nvPr/>
          </p:nvSpPr>
          <p:spPr>
            <a:xfrm>
              <a:off x="2953850" y="2838964"/>
              <a:ext cx="835200" cy="18000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chemeClr val="accent3">
                  <a:lumMod val="60000"/>
                  <a:lumOff val="40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3150" tIns="13150" rIns="13150" bIns="13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600" dirty="0">
                  <a:solidFill>
                    <a:schemeClr val="dk2"/>
                  </a:solidFill>
                </a:rPr>
                <a:t>Enhanced weathering</a:t>
              </a:r>
              <a:endParaRPr sz="600" dirty="0">
                <a:solidFill>
                  <a:schemeClr val="dk2"/>
                </a:solidFill>
              </a:endParaRPr>
            </a:p>
          </p:txBody>
        </p:sp>
        <p:sp>
          <p:nvSpPr>
            <p:cNvPr id="66" name="Google Shape;118;p25">
              <a:extLst>
                <a:ext uri="{FF2B5EF4-FFF2-40B4-BE49-F238E27FC236}">
                  <a16:creationId xmlns:a16="http://schemas.microsoft.com/office/drawing/2014/main" id="{220FD024-91AA-408C-96D2-59F409712D97}"/>
                </a:ext>
              </a:extLst>
            </p:cNvPr>
            <p:cNvSpPr txBox="1"/>
            <p:nvPr/>
          </p:nvSpPr>
          <p:spPr>
            <a:xfrm>
              <a:off x="2939793" y="3076453"/>
              <a:ext cx="835200" cy="18000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rgbClr val="8FBC8F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3150" tIns="13150" rIns="13150" bIns="13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DE" sz="600" dirty="0">
                  <a:solidFill>
                    <a:schemeClr val="dk2"/>
                  </a:solidFill>
                </a:rPr>
                <a:t>Ocean </a:t>
              </a:r>
              <a:r>
                <a:rPr lang="de-DE" sz="600" dirty="0" err="1">
                  <a:solidFill>
                    <a:schemeClr val="dk2"/>
                  </a:solidFill>
                </a:rPr>
                <a:t>alkalinity</a:t>
              </a:r>
              <a:r>
                <a:rPr lang="de-DE" sz="600" dirty="0">
                  <a:solidFill>
                    <a:schemeClr val="dk2"/>
                  </a:solidFill>
                </a:rPr>
                <a:t> </a:t>
              </a:r>
              <a:r>
                <a:rPr lang="de-DE" sz="600" dirty="0" err="1">
                  <a:solidFill>
                    <a:schemeClr val="dk2"/>
                  </a:solidFill>
                </a:rPr>
                <a:t>enhancement</a:t>
              </a:r>
              <a:endParaRPr sz="600" dirty="0">
                <a:solidFill>
                  <a:schemeClr val="dk2"/>
                </a:solidFill>
              </a:endParaRPr>
            </a:p>
          </p:txBody>
        </p:sp>
        <p:sp>
          <p:nvSpPr>
            <p:cNvPr id="67" name="Google Shape;124;p25">
              <a:extLst>
                <a:ext uri="{FF2B5EF4-FFF2-40B4-BE49-F238E27FC236}">
                  <a16:creationId xmlns:a16="http://schemas.microsoft.com/office/drawing/2014/main" id="{BDBBA526-3CCE-40AD-9491-4C6DD854CA5F}"/>
                </a:ext>
              </a:extLst>
            </p:cNvPr>
            <p:cNvSpPr txBox="1"/>
            <p:nvPr/>
          </p:nvSpPr>
          <p:spPr>
            <a:xfrm>
              <a:off x="2939793" y="3305099"/>
              <a:ext cx="835200" cy="18000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rgbClr val="C1A28A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3150" tIns="13150" rIns="13150" bIns="13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600" dirty="0">
                  <a:solidFill>
                    <a:schemeClr val="dk2"/>
                  </a:solidFill>
                </a:rPr>
                <a:t>Ocean iron fertilization</a:t>
              </a:r>
              <a:endParaRPr sz="600" dirty="0">
                <a:solidFill>
                  <a:schemeClr val="dk2"/>
                </a:solidFill>
              </a:endParaRPr>
            </a:p>
          </p:txBody>
        </p:sp>
        <p:sp>
          <p:nvSpPr>
            <p:cNvPr id="68" name="Google Shape;130;p25">
              <a:extLst>
                <a:ext uri="{FF2B5EF4-FFF2-40B4-BE49-F238E27FC236}">
                  <a16:creationId xmlns:a16="http://schemas.microsoft.com/office/drawing/2014/main" id="{FF98F18A-A59C-44CE-9E53-7173047D5295}"/>
                </a:ext>
              </a:extLst>
            </p:cNvPr>
            <p:cNvSpPr txBox="1"/>
            <p:nvPr/>
          </p:nvSpPr>
          <p:spPr>
            <a:xfrm>
              <a:off x="2944152" y="3533745"/>
              <a:ext cx="835200" cy="18000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rgbClr val="FF7F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3150" tIns="13150" rIns="13150" bIns="13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600" dirty="0">
                  <a:solidFill>
                    <a:schemeClr val="dk2"/>
                  </a:solidFill>
                </a:rPr>
                <a:t>Direct ocean capture</a:t>
              </a:r>
              <a:endParaRPr sz="600" dirty="0">
                <a:solidFill>
                  <a:schemeClr val="dk2"/>
                </a:solidFill>
              </a:endParaRPr>
            </a:p>
          </p:txBody>
        </p:sp>
        <p:sp>
          <p:nvSpPr>
            <p:cNvPr id="69" name="Google Shape;134;p25">
              <a:extLst>
                <a:ext uri="{FF2B5EF4-FFF2-40B4-BE49-F238E27FC236}">
                  <a16:creationId xmlns:a16="http://schemas.microsoft.com/office/drawing/2014/main" id="{AEB9C02A-1215-489B-9601-3BDF6CCF4BA5}"/>
                </a:ext>
              </a:extLst>
            </p:cNvPr>
            <p:cNvSpPr txBox="1"/>
            <p:nvPr/>
          </p:nvSpPr>
          <p:spPr>
            <a:xfrm>
              <a:off x="2944152" y="3757654"/>
              <a:ext cx="835200" cy="18000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chemeClr val="accent3">
                  <a:lumMod val="60000"/>
                  <a:lumOff val="40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3150" tIns="13150" rIns="13150" bIns="13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600" dirty="0">
                  <a:solidFill>
                    <a:schemeClr val="dk2"/>
                  </a:solidFill>
                </a:rPr>
                <a:t>Algae farming</a:t>
              </a:r>
              <a:endParaRPr sz="600" dirty="0">
                <a:solidFill>
                  <a:schemeClr val="dk2"/>
                </a:solidFill>
              </a:endParaRPr>
            </a:p>
          </p:txBody>
        </p:sp>
        <p:sp>
          <p:nvSpPr>
            <p:cNvPr id="72" name="Google Shape;130;p25">
              <a:extLst>
                <a:ext uri="{FF2B5EF4-FFF2-40B4-BE49-F238E27FC236}">
                  <a16:creationId xmlns:a16="http://schemas.microsoft.com/office/drawing/2014/main" id="{3C766DC6-3F7E-4C47-AD29-6962046DF06E}"/>
                </a:ext>
              </a:extLst>
            </p:cNvPr>
            <p:cNvSpPr txBox="1"/>
            <p:nvPr/>
          </p:nvSpPr>
          <p:spPr>
            <a:xfrm>
              <a:off x="2951737" y="3994165"/>
              <a:ext cx="835200" cy="18000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rgbClr val="FF7F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3150" tIns="13150" rIns="13150" bIns="13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600" dirty="0">
                  <a:solidFill>
                    <a:schemeClr val="dk2"/>
                  </a:solidFill>
                </a:rPr>
                <a:t>Blue carbon management</a:t>
              </a:r>
              <a:endParaRPr sz="600" dirty="0">
                <a:solidFill>
                  <a:schemeClr val="dk2"/>
                </a:solidFill>
              </a:endParaRPr>
            </a:p>
          </p:txBody>
        </p:sp>
        <p:sp>
          <p:nvSpPr>
            <p:cNvPr id="73" name="Google Shape;134;p25">
              <a:extLst>
                <a:ext uri="{FF2B5EF4-FFF2-40B4-BE49-F238E27FC236}">
                  <a16:creationId xmlns:a16="http://schemas.microsoft.com/office/drawing/2014/main" id="{533A14BD-0B26-492F-BECA-3E2810FB02B5}"/>
                </a:ext>
              </a:extLst>
            </p:cNvPr>
            <p:cNvSpPr txBox="1"/>
            <p:nvPr/>
          </p:nvSpPr>
          <p:spPr>
            <a:xfrm>
              <a:off x="2951737" y="4218074"/>
              <a:ext cx="835200" cy="18000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chemeClr val="accent3">
                  <a:lumMod val="60000"/>
                  <a:lumOff val="40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3150" tIns="13150" rIns="13150" bIns="13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600" dirty="0">
                  <a:solidFill>
                    <a:schemeClr val="dk2"/>
                  </a:solidFill>
                </a:rPr>
                <a:t>CCS</a:t>
              </a:r>
              <a:endParaRPr sz="600" dirty="0">
                <a:solidFill>
                  <a:schemeClr val="dk2"/>
                </a:solidFill>
              </a:endParaRPr>
            </a:p>
          </p:txBody>
        </p:sp>
      </p:grpSp>
      <p:sp>
        <p:nvSpPr>
          <p:cNvPr id="80" name="Google Shape;124;p25">
            <a:extLst>
              <a:ext uri="{FF2B5EF4-FFF2-40B4-BE49-F238E27FC236}">
                <a16:creationId xmlns:a16="http://schemas.microsoft.com/office/drawing/2014/main" id="{AE751A9B-EB14-4F15-899D-A5588D72F720}"/>
              </a:ext>
            </a:extLst>
          </p:cNvPr>
          <p:cNvSpPr txBox="1"/>
          <p:nvPr/>
        </p:nvSpPr>
        <p:spPr>
          <a:xfrm>
            <a:off x="3102353" y="3902358"/>
            <a:ext cx="835200" cy="180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C1A28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3150" tIns="13150" rIns="13150" bIns="13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600" dirty="0">
                <a:solidFill>
                  <a:schemeClr val="dk2"/>
                </a:solidFill>
              </a:rPr>
              <a:t>BECCS</a:t>
            </a:r>
            <a:endParaRPr sz="600" dirty="0">
              <a:solidFill>
                <a:schemeClr val="dk2"/>
              </a:solidFill>
            </a:endParaRPr>
          </a:p>
        </p:txBody>
      </p:sp>
      <p:sp>
        <p:nvSpPr>
          <p:cNvPr id="81" name="Google Shape;130;p25">
            <a:extLst>
              <a:ext uri="{FF2B5EF4-FFF2-40B4-BE49-F238E27FC236}">
                <a16:creationId xmlns:a16="http://schemas.microsoft.com/office/drawing/2014/main" id="{3C5C3D7E-A772-4FA1-AACA-233AC35B3571}"/>
              </a:ext>
            </a:extLst>
          </p:cNvPr>
          <p:cNvSpPr txBox="1"/>
          <p:nvPr/>
        </p:nvSpPr>
        <p:spPr>
          <a:xfrm>
            <a:off x="3106712" y="4131004"/>
            <a:ext cx="835200" cy="180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FF7F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3150" tIns="13150" rIns="13150" bIns="13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600" dirty="0">
                <a:solidFill>
                  <a:schemeClr val="dk2"/>
                </a:solidFill>
              </a:rPr>
              <a:t>DACCS</a:t>
            </a:r>
            <a:endParaRPr sz="600" dirty="0">
              <a:solidFill>
                <a:schemeClr val="dk2"/>
              </a:solidFill>
            </a:endParaRPr>
          </a:p>
        </p:txBody>
      </p:sp>
      <p:sp>
        <p:nvSpPr>
          <p:cNvPr id="82" name="Google Shape;134;p25">
            <a:extLst>
              <a:ext uri="{FF2B5EF4-FFF2-40B4-BE49-F238E27FC236}">
                <a16:creationId xmlns:a16="http://schemas.microsoft.com/office/drawing/2014/main" id="{812CCDFA-A907-4DA5-97E6-9578153ECA7C}"/>
              </a:ext>
            </a:extLst>
          </p:cNvPr>
          <p:cNvSpPr txBox="1"/>
          <p:nvPr/>
        </p:nvSpPr>
        <p:spPr>
          <a:xfrm>
            <a:off x="3106712" y="4354913"/>
            <a:ext cx="835200" cy="180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accent3">
                <a:lumMod val="60000"/>
                <a:lumOff val="40000"/>
              </a:schemeClr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3150" tIns="13150" rIns="13150" bIns="13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600" dirty="0">
                <a:solidFill>
                  <a:schemeClr val="dk2"/>
                </a:solidFill>
              </a:rPr>
              <a:t>CCUS</a:t>
            </a:r>
            <a:endParaRPr sz="600" dirty="0">
              <a:solidFill>
                <a:schemeClr val="dk2"/>
              </a:solidFill>
            </a:endParaRPr>
          </a:p>
        </p:txBody>
      </p:sp>
      <p:sp>
        <p:nvSpPr>
          <p:cNvPr id="83" name="Google Shape;130;p25">
            <a:extLst>
              <a:ext uri="{FF2B5EF4-FFF2-40B4-BE49-F238E27FC236}">
                <a16:creationId xmlns:a16="http://schemas.microsoft.com/office/drawing/2014/main" id="{BD48B3C3-BC5B-4EB5-A66D-E76F0A22FD82}"/>
              </a:ext>
            </a:extLst>
          </p:cNvPr>
          <p:cNvSpPr txBox="1"/>
          <p:nvPr/>
        </p:nvSpPr>
        <p:spPr>
          <a:xfrm>
            <a:off x="3114297" y="4591424"/>
            <a:ext cx="835200" cy="180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FF7F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3150" tIns="13150" rIns="13150" bIns="13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600" dirty="0">
                <a:solidFill>
                  <a:schemeClr val="dk2"/>
                </a:solidFill>
              </a:rPr>
              <a:t>General CDR/Other</a:t>
            </a:r>
            <a:endParaRPr sz="6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00493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</Words>
  <Application>Microsoft Office PowerPoint</Application>
  <PresentationFormat>Bildschirmpräsentation (16:9)</PresentationFormat>
  <Paragraphs>119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Roboto</vt:lpstr>
      <vt:lpstr>Simple Light</vt:lpstr>
      <vt:lpstr>Simple Light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Leon Stephan</dc:creator>
  <cp:lastModifiedBy>Leon Stephan</cp:lastModifiedBy>
  <cp:revision>5</cp:revision>
  <dcterms:modified xsi:type="dcterms:W3CDTF">2025-07-22T12:57:42Z</dcterms:modified>
</cp:coreProperties>
</file>